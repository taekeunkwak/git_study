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7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59AF"/>
    <a:srgbClr val="7C6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0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2021-12-29</a:t>
            </a:fld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‹#›</a:t>
            </a:fld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8F563C85-90F6-445D-9B5B-8ABB00FB3043}" type="datetimeFigureOut">
              <a:rPr lang="ko-KR" altLang="en-US" smtClean="0"/>
              <a:pPr/>
              <a:t>2021-12-29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20B16B34-ED2F-4269-81E8-097D50C9027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넥슨Lv2고딕 Medium" panose="00000600000000000000" pitchFamily="2" charset="-127"/>
        <a:ea typeface="넥슨Lv2고딕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57A28-628D-4B56-B193-622F5A74F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2235F0-DF94-4F8B-B33F-4550B002C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324513-D61C-4157-AD5C-E41746CB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EC54-77E7-4FEA-94D1-0451EFA7AD7C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A16210-A05F-426E-B71B-257AD6FF3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49AF5A-9F41-482C-8DA3-F80E61A8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792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6B5E1-25AF-4E76-9947-177A8113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406DBD-559D-430C-8E79-5D00388AB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50FF1-E89B-44E2-A536-765E65582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E073A-8971-4EEF-88C6-31BD408A05B2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506D8C-23BB-4601-BE8F-4D31569A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D513AC-04C4-467E-81A6-60953FE9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67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1450B-581F-4C5D-984E-16F4557B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5CD45B-16BE-4180-BD08-74F656A8E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44C443-E7CF-47F8-8BD4-778D4F970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DD4B-519E-4042-9DAE-3260195E9999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D11E6-4EC4-4E0E-B875-D2DEDFFE8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EB129D-C48C-4B94-8F42-BBC9EE4C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7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EBE4C-5757-4DF9-A099-F97CCAAE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1D3E1E-236F-44D9-AF8F-E3C5F91A3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A3ACBE-38A3-4F57-ABE1-F5D7AB418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31C29D-F386-4D4D-90E5-CBBF26E7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3B3-7C75-4C2A-942F-29C23C383D68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9FAC8E-40FF-463D-AA50-3FC9D7BC3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E5F84-2DBF-4C8A-A100-82CB84D4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20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53585-66AD-400D-B0E2-9656E7C0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C33ADC-8AC1-4893-B8CA-FCB4C0F6E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DFE2AB-CD53-4083-A1D9-21107F216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3BF89F-47AA-446E-B634-48BEF266C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B56064-6721-4E46-AC90-817C3B977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94FD54E-B3F2-484A-9795-C9579A469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9268-CC97-49B8-90FB-DD8B794FCAB9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D08686-DBF0-40B6-8273-302E7A2A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0120F29-A9F9-4BA8-A887-82BBB522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851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668BB-A863-4A7C-927D-CB1C23ED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A9B55D-06E5-45DF-8059-34E7EF52D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5E721-BA45-40CA-9AD9-5636B2BA0929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EBCC43-8C51-4B68-B4B2-4BEBE06F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D5AB32-4C56-48E0-B85C-265529F2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21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30C2DA-EFFD-451C-8A24-70F12B0D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14A7-CA27-4C7E-A9BA-91DE9414EE9C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60C4DE-8C88-477F-AF9F-9A979598E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3594C0-E824-427A-B6A3-9DF89393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989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50DF9-F428-4B0A-90F7-E1045CC2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FBA4F3-3468-4523-982A-4F7373F94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CEBDE7-04EC-4F50-A116-C7DE658B5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7B3C79-71AB-45A9-8C04-FE10177D5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3773-BA1D-4996-8FC5-4900A59D4223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44247F-2871-4B23-89F4-24870EE2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4DF79B-FF97-4875-BC8E-7527B26E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585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A31C82-B8D4-43E7-8A45-02B52B8B8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BA0240-8536-4014-A00D-2856387DCF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379A66-077F-40BD-BAB7-8DA2721B8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948DE5-651B-4879-BE2A-22AE479E0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21E1-E875-4383-8957-70C0BE4A1AF9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4CF90C-12B8-44CF-B9D4-F3749DC0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189953-06B0-48B9-8559-1FCA62EA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635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3C1C8-015B-4682-B0CD-63F44D5A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CE70BC-4CEF-4330-BFCF-9C7BFEE08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32DB38-08AD-42A7-A315-FAA2612D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1F4B4-223A-486B-973C-5F4977ED1BF2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04E3D1-49F5-4427-803A-EE753050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FDCFC-2E14-4FD7-BC6C-D94599F01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48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933965-1468-4FEF-A70C-CA8368E2A6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01CB79-B8F0-46BD-A0D6-0B8B279DF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A3B596-E5F7-4C36-B1B8-3C98A00D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EC01-E2E6-4F4E-B330-55E8C598DB94}" type="datetime1">
              <a:rPr lang="ko-KR" altLang="en-US" smtClean="0"/>
              <a:t>2021-12-29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693224-E226-4D38-9C38-6DAEEC61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D669B1-F204-4D56-9B4E-F9B61F54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01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DC42C3C-D6B2-4F0F-8FA4-9AC03205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C6F9FA-D127-43EB-AD29-85E22C4C7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0568B-EC24-4A29-A69E-88DC2A2D2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26142DE9-6E7F-4B7E-B5E9-2E0743C3FD71}" type="datetime1">
              <a:rPr lang="ko-KR" altLang="en-US" smtClean="0"/>
              <a:pPr/>
              <a:t>2021-12-29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02BF02-2189-4601-A843-C54529119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577516-76AD-4976-A6E3-E364F86C8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defRPr>
            </a:lvl1pPr>
          </a:lstStyle>
          <a:p>
            <a:fld id="{1D1169E2-93EA-4F50-8F12-231B5AD0A00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3202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넥슨Lv2고딕 Medium" panose="00000600000000000000" pitchFamily="2" charset="-127"/>
          <a:ea typeface="넥슨Lv2고딕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310577" cy="23876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GUI </a:t>
            </a:r>
            <a:r>
              <a:rPr lang="ko-KR" altLang="en-US" dirty="0"/>
              <a:t>환경에서 버전 관리 시작하기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Chapter 1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67327" y="3880852"/>
            <a:ext cx="9400674" cy="2387600"/>
          </a:xfrm>
        </p:spPr>
        <p:txBody>
          <a:bodyPr>
            <a:normAutofit/>
          </a:bodyPr>
          <a:lstStyle/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r>
              <a:rPr lang="en-US" altLang="ko-KR" dirty="0" err="1"/>
              <a:t>DamoaTech</a:t>
            </a:r>
            <a:r>
              <a:rPr lang="en-US" altLang="ko-KR" dirty="0"/>
              <a:t>  </a:t>
            </a:r>
          </a:p>
          <a:p>
            <a:pPr algn="r"/>
            <a:r>
              <a:rPr lang="ko-KR" altLang="en-US" dirty="0"/>
              <a:t>곽태근 연구원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5F392F-73F4-40AD-AB72-4406818C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소스 트리 설치하기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소스 트리 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Git 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사용을 도와주는 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GUI 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프로그램</a:t>
            </a:r>
            <a:r>
              <a:rPr lang="en-US" altLang="ko-KR" sz="2000" dirty="0"/>
              <a:t> 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버튼을 클릭하는 방식으로 </a:t>
            </a:r>
            <a:r>
              <a:rPr lang="ko-KR" altLang="en-US" sz="20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커밋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(Commit), 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푸시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(Push), </a:t>
            </a:r>
            <a:r>
              <a:rPr lang="ko-KR" altLang="en-US" sz="20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브랜치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(Branch),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등이</a:t>
            </a:r>
            <a:r>
              <a:rPr lang="en-US" altLang="ko-KR" sz="2000" dirty="0"/>
              <a:t> </a:t>
            </a:r>
            <a:r>
              <a:rPr lang="ko-KR" altLang="en-US" sz="2000" dirty="0"/>
              <a:t>눈으로 쉽게 확인할 수 있다는 장점이 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소스 트리 다운로드 하는 방법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20CFCA9-685D-41FF-9BC5-F6CDC5228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75" y="2832505"/>
            <a:ext cx="3490511" cy="16071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5E27E70-CA71-40E2-8E1F-A5A8FAC36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080" y="2832505"/>
            <a:ext cx="3196388" cy="16037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5180268-DC2E-40C3-BA09-423B761DBE00}"/>
              </a:ext>
            </a:extLst>
          </p:cNvPr>
          <p:cNvSpPr/>
          <p:nvPr/>
        </p:nvSpPr>
        <p:spPr>
          <a:xfrm>
            <a:off x="4031926" y="2832504"/>
            <a:ext cx="364960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D3E466-BAEE-416C-8005-E1C22CDF0185}"/>
              </a:ext>
            </a:extLst>
          </p:cNvPr>
          <p:cNvSpPr/>
          <p:nvPr/>
        </p:nvSpPr>
        <p:spPr>
          <a:xfrm>
            <a:off x="7566508" y="2832504"/>
            <a:ext cx="364960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827DA20-C30D-4E73-AE46-8116A0291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9662" y="2832505"/>
            <a:ext cx="2285166" cy="16037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E59357-B133-4DE6-848B-152563A24272}"/>
              </a:ext>
            </a:extLst>
          </p:cNvPr>
          <p:cNvSpPr/>
          <p:nvPr/>
        </p:nvSpPr>
        <p:spPr>
          <a:xfrm>
            <a:off x="10189868" y="2832504"/>
            <a:ext cx="364960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EF38F27-7940-456E-AEBA-951684FAC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374" y="4595810"/>
            <a:ext cx="3490511" cy="21185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C8BA1C2-EE4A-4D4D-A0B9-DE5AC3ACCEEA}"/>
              </a:ext>
            </a:extLst>
          </p:cNvPr>
          <p:cNvSpPr/>
          <p:nvPr/>
        </p:nvSpPr>
        <p:spPr>
          <a:xfrm>
            <a:off x="4031926" y="4595809"/>
            <a:ext cx="364960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4D1D648-DA38-4E0D-864E-927EC5D8F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5080" y="4578046"/>
            <a:ext cx="1654207" cy="21185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5E13593A-36A1-44A4-82FC-53FC2DC3B532}"/>
              </a:ext>
            </a:extLst>
          </p:cNvPr>
          <p:cNvSpPr/>
          <p:nvPr/>
        </p:nvSpPr>
        <p:spPr>
          <a:xfrm>
            <a:off x="6029092" y="4578046"/>
            <a:ext cx="364960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966102-8A17-4E40-A91A-A8FB2AEF66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7481" y="4577132"/>
            <a:ext cx="3476108" cy="21194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D90D80-7309-4F18-9C5C-A542257044D5}"/>
              </a:ext>
            </a:extLst>
          </p:cNvPr>
          <p:cNvSpPr/>
          <p:nvPr/>
        </p:nvSpPr>
        <p:spPr>
          <a:xfrm>
            <a:off x="9838629" y="4578046"/>
            <a:ext cx="364960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0A712CE-45E2-46EB-B8BA-836A853C6B50}"/>
              </a:ext>
            </a:extLst>
          </p:cNvPr>
          <p:cNvSpPr/>
          <p:nvPr/>
        </p:nvSpPr>
        <p:spPr>
          <a:xfrm>
            <a:off x="838197" y="2767263"/>
            <a:ext cx="9801726" cy="40105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93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소스 트리 설치하기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06EB292-F3F5-4F79-B7C1-A166834270F5}"/>
              </a:ext>
            </a:extLst>
          </p:cNvPr>
          <p:cNvSpPr/>
          <p:nvPr/>
        </p:nvSpPr>
        <p:spPr>
          <a:xfrm>
            <a:off x="838200" y="1338957"/>
            <a:ext cx="10515600" cy="47885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3C71EEA-2442-40F8-8EE0-BBB1E7EC4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74" y="1428581"/>
            <a:ext cx="3484261" cy="21281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D7702E1-A754-4E49-9DDA-279B2B2F8C4F}"/>
              </a:ext>
            </a:extLst>
          </p:cNvPr>
          <p:cNvSpPr/>
          <p:nvPr/>
        </p:nvSpPr>
        <p:spPr>
          <a:xfrm>
            <a:off x="4044475" y="1428581"/>
            <a:ext cx="364960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7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93110C1-AFA6-4B73-88F7-CBB1E3699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346" y="1941929"/>
            <a:ext cx="2822271" cy="8581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A705575F-4B18-4CA8-AA31-F41EA88333CD}"/>
              </a:ext>
            </a:extLst>
          </p:cNvPr>
          <p:cNvSpPr/>
          <p:nvPr/>
        </p:nvSpPr>
        <p:spPr>
          <a:xfrm>
            <a:off x="7310657" y="1941929"/>
            <a:ext cx="364960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8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E310F9E-2279-4047-81C9-2457BE8C7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528" y="1437319"/>
            <a:ext cx="2822271" cy="21194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6A1EC2-F703-47E5-A506-FEF5C1F9FADC}"/>
              </a:ext>
            </a:extLst>
          </p:cNvPr>
          <p:cNvSpPr/>
          <p:nvPr/>
        </p:nvSpPr>
        <p:spPr>
          <a:xfrm>
            <a:off x="10576839" y="1428581"/>
            <a:ext cx="364960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9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243533E-4EE4-4D31-9257-B7AF2F8B5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174" y="3786771"/>
            <a:ext cx="2519927" cy="212819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3F7B7C3-3865-415E-ADD1-C330BD9263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346" y="3786769"/>
            <a:ext cx="1496542" cy="2128200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E2111D7D-6D42-4AD0-8F10-BD4A8170FF33}"/>
              </a:ext>
            </a:extLst>
          </p:cNvPr>
          <p:cNvSpPr/>
          <p:nvPr/>
        </p:nvSpPr>
        <p:spPr>
          <a:xfrm>
            <a:off x="5851200" y="3796786"/>
            <a:ext cx="498688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11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29D43870-10C8-411A-8F3F-30DD49D5EB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528" y="3786769"/>
            <a:ext cx="2376306" cy="2128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62875881-FEC3-4151-A1C7-7F74D55BF138}"/>
              </a:ext>
            </a:extLst>
          </p:cNvPr>
          <p:cNvSpPr/>
          <p:nvPr/>
        </p:nvSpPr>
        <p:spPr>
          <a:xfrm>
            <a:off x="9997146" y="3786770"/>
            <a:ext cx="498688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12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F79A08-6778-4EDF-9F4A-AA923967CE8C}"/>
              </a:ext>
            </a:extLst>
          </p:cNvPr>
          <p:cNvSpPr/>
          <p:nvPr/>
        </p:nvSpPr>
        <p:spPr>
          <a:xfrm>
            <a:off x="2943726" y="3795625"/>
            <a:ext cx="504940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10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6905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소스 트리 설치하기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CEC51F9-CFA1-4719-9C35-1CB337F9CE35}"/>
              </a:ext>
            </a:extLst>
          </p:cNvPr>
          <p:cNvSpPr/>
          <p:nvPr/>
        </p:nvSpPr>
        <p:spPr>
          <a:xfrm>
            <a:off x="838200" y="1338957"/>
            <a:ext cx="9717505" cy="5077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B6C093DC-0C6C-438D-A76C-6318B3C73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74" y="1427189"/>
            <a:ext cx="3689681" cy="15679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3015D83C-106A-438D-8263-2D85525FB76A}"/>
              </a:ext>
            </a:extLst>
          </p:cNvPr>
          <p:cNvSpPr/>
          <p:nvPr/>
        </p:nvSpPr>
        <p:spPr>
          <a:xfrm>
            <a:off x="4116167" y="1427189"/>
            <a:ext cx="498688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13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A58378CB-1B17-4031-A1D0-A88ED3E82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74" y="3083332"/>
            <a:ext cx="4098558" cy="31393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022F6E2A-5A58-48D3-B782-E1A0E1909C62}"/>
              </a:ext>
            </a:extLst>
          </p:cNvPr>
          <p:cNvSpPr/>
          <p:nvPr/>
        </p:nvSpPr>
        <p:spPr>
          <a:xfrm>
            <a:off x="985852" y="3380826"/>
            <a:ext cx="234393" cy="2601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순서도: 연결자 36">
            <a:extLst>
              <a:ext uri="{FF2B5EF4-FFF2-40B4-BE49-F238E27FC236}">
                <a16:creationId xmlns:a16="http://schemas.microsoft.com/office/drawing/2014/main" id="{DEC01DBB-7A6C-4C21-9941-B5E536424A30}"/>
              </a:ext>
            </a:extLst>
          </p:cNvPr>
          <p:cNvSpPr/>
          <p:nvPr/>
        </p:nvSpPr>
        <p:spPr>
          <a:xfrm>
            <a:off x="924486" y="3309006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C9D7D86-A55E-48BD-B65B-6E050B395D1D}"/>
              </a:ext>
            </a:extLst>
          </p:cNvPr>
          <p:cNvSpPr/>
          <p:nvPr/>
        </p:nvSpPr>
        <p:spPr>
          <a:xfrm>
            <a:off x="1325140" y="3380826"/>
            <a:ext cx="253055" cy="2601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순서도: 연결자 38">
            <a:extLst>
              <a:ext uri="{FF2B5EF4-FFF2-40B4-BE49-F238E27FC236}">
                <a16:creationId xmlns:a16="http://schemas.microsoft.com/office/drawing/2014/main" id="{769CABD1-08F8-46E2-A0A0-2CB7403142A7}"/>
              </a:ext>
            </a:extLst>
          </p:cNvPr>
          <p:cNvSpPr/>
          <p:nvPr/>
        </p:nvSpPr>
        <p:spPr>
          <a:xfrm>
            <a:off x="1262123" y="3313285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BEDC606-2B49-465B-B5FE-6F99CC5754DD}"/>
              </a:ext>
            </a:extLst>
          </p:cNvPr>
          <p:cNvSpPr/>
          <p:nvPr/>
        </p:nvSpPr>
        <p:spPr>
          <a:xfrm>
            <a:off x="2056117" y="3380826"/>
            <a:ext cx="253056" cy="2601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7D5D6C0-781F-4B1E-8059-2B9E5A394551}"/>
              </a:ext>
            </a:extLst>
          </p:cNvPr>
          <p:cNvSpPr/>
          <p:nvPr/>
        </p:nvSpPr>
        <p:spPr>
          <a:xfrm>
            <a:off x="2407279" y="3380826"/>
            <a:ext cx="253056" cy="257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순서도: 연결자 42">
            <a:extLst>
              <a:ext uri="{FF2B5EF4-FFF2-40B4-BE49-F238E27FC236}">
                <a16:creationId xmlns:a16="http://schemas.microsoft.com/office/drawing/2014/main" id="{08AB0D61-6E8D-43C3-B5AE-A40C59EA1EFA}"/>
              </a:ext>
            </a:extLst>
          </p:cNvPr>
          <p:cNvSpPr/>
          <p:nvPr/>
        </p:nvSpPr>
        <p:spPr>
          <a:xfrm>
            <a:off x="2337315" y="3588345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EA07859-F8AA-4EE1-97D0-EDC3C2189BEC}"/>
              </a:ext>
            </a:extLst>
          </p:cNvPr>
          <p:cNvSpPr/>
          <p:nvPr/>
        </p:nvSpPr>
        <p:spPr>
          <a:xfrm>
            <a:off x="2758442" y="3380826"/>
            <a:ext cx="253056" cy="257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순서도: 연결자 44">
            <a:extLst>
              <a:ext uri="{FF2B5EF4-FFF2-40B4-BE49-F238E27FC236}">
                <a16:creationId xmlns:a16="http://schemas.microsoft.com/office/drawing/2014/main" id="{A70F05E2-50E4-4649-8A04-B774D0CB650C}"/>
              </a:ext>
            </a:extLst>
          </p:cNvPr>
          <p:cNvSpPr/>
          <p:nvPr/>
        </p:nvSpPr>
        <p:spPr>
          <a:xfrm>
            <a:off x="2710940" y="3584803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1C6CA90-7A73-4A81-8C35-CD8DDC2DB531}"/>
              </a:ext>
            </a:extLst>
          </p:cNvPr>
          <p:cNvSpPr/>
          <p:nvPr/>
        </p:nvSpPr>
        <p:spPr>
          <a:xfrm>
            <a:off x="1997285" y="3239461"/>
            <a:ext cx="117664" cy="1062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순서도: 연결자 46">
            <a:extLst>
              <a:ext uri="{FF2B5EF4-FFF2-40B4-BE49-F238E27FC236}">
                <a16:creationId xmlns:a16="http://schemas.microsoft.com/office/drawing/2014/main" id="{5ADE7F6F-9220-449D-92C6-698EC7E9DA90}"/>
              </a:ext>
            </a:extLst>
          </p:cNvPr>
          <p:cNvSpPr/>
          <p:nvPr/>
        </p:nvSpPr>
        <p:spPr>
          <a:xfrm>
            <a:off x="1903226" y="3174324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A8E2B7CF-D561-46E0-9849-A50845A5FE52}"/>
              </a:ext>
            </a:extLst>
          </p:cNvPr>
          <p:cNvSpPr/>
          <p:nvPr/>
        </p:nvSpPr>
        <p:spPr>
          <a:xfrm>
            <a:off x="1989662" y="3584803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F0AF2E-8F0F-4316-B92A-C963C2E4738A}"/>
              </a:ext>
            </a:extLst>
          </p:cNvPr>
          <p:cNvSpPr txBox="1"/>
          <p:nvPr/>
        </p:nvSpPr>
        <p:spPr>
          <a:xfrm>
            <a:off x="5279693" y="3083331"/>
            <a:ext cx="5170826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1.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로컬저장소 목록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(Local) :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컴퓨터에 저장되어 있는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로컬저장소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목록을 보여준다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  <a:endParaRPr lang="en-US" altLang="ko-KR" sz="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sz="6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원격저장소 목록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(Remote) :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원격저장소 계정에 연결되어 있는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모든 원격저장소를 볼 수 있다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6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원격저장소 클론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(Clone) :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원격 서버에 올라와 있는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저장소를 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내 로컬 컴퓨터에 다운로드 및 연동할 수 있다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6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로컬저장소 추가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(Add) :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내 컴퓨터에 있는 일반 폴더를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으로 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버전 관리할 수 있도록 로컬 저장소를 생성한다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 </a:t>
            </a: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폴더 내에 로컬 저장소를 생성해야 그때부터 버전 관리가 가능하다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.)</a:t>
            </a:r>
          </a:p>
          <a:p>
            <a:endParaRPr lang="en-US" altLang="ko-KR" sz="6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로컬저장소 생성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(Create) :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내 컴퓨터에 있는 일반 폴더를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으로 버전 관리할 수 있도록 로컬 저장소를 생성한다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6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새 탭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(+) :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새로운 탭을 열어 다른 저장소를 관리할 수 있다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  <a:endParaRPr lang="ko-KR" altLang="en-US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112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비주얼 스튜디오 코드 설치하기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비주얼 스튜디오 코드 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코드 작성에 특화된 여러 장점이 있는 프로그램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</a:t>
            </a:r>
          </a:p>
          <a:p>
            <a:pPr marL="0" indent="0">
              <a:buNone/>
            </a:pPr>
            <a:r>
              <a:rPr lang="en-US" altLang="ko-KR" sz="2000" dirty="0"/>
              <a:t>(</a:t>
            </a:r>
            <a:r>
              <a:rPr lang="ko-KR" altLang="en-US" sz="2000" dirty="0"/>
              <a:t>문법 강조</a:t>
            </a:r>
            <a:r>
              <a:rPr lang="en-US" altLang="ko-KR" sz="2000" dirty="0"/>
              <a:t>, </a:t>
            </a:r>
            <a:r>
              <a:rPr lang="ko-KR" altLang="en-US" sz="2000" dirty="0"/>
              <a:t>코드 자동 완성</a:t>
            </a:r>
            <a:r>
              <a:rPr lang="en-US" altLang="ko-KR" sz="2000" dirty="0"/>
              <a:t>, </a:t>
            </a:r>
            <a:r>
              <a:rPr lang="ko-KR" altLang="en-US" sz="2000" dirty="0"/>
              <a:t>버그 추적</a:t>
            </a:r>
            <a:r>
              <a:rPr lang="en-US" altLang="ko-KR" sz="2000" dirty="0"/>
              <a:t>, Git </a:t>
            </a:r>
            <a:r>
              <a:rPr lang="ko-KR" altLang="en-US" sz="2000" dirty="0"/>
              <a:t>연동</a:t>
            </a:r>
            <a:r>
              <a:rPr lang="en-US" altLang="ko-KR" sz="2000" dirty="0"/>
              <a:t>, </a:t>
            </a:r>
            <a:r>
              <a:rPr lang="ko-KR" altLang="en-US" sz="2000" dirty="0"/>
              <a:t>등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r>
              <a:rPr lang="ko-KR" altLang="en-US" sz="2000" dirty="0"/>
              <a:t>비주얼 스튜디오</a:t>
            </a:r>
            <a:r>
              <a:rPr lang="en-US" altLang="ko-KR" sz="2000" dirty="0"/>
              <a:t> </a:t>
            </a:r>
            <a:r>
              <a:rPr lang="ko-KR" altLang="en-US" sz="2000" dirty="0"/>
              <a:t>코드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다운로드 하는 방법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FFDF232-7442-4E0C-995B-42ADFC42E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99" y="2843965"/>
            <a:ext cx="4201693" cy="15756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1CCC81-AF1B-4435-AAF5-BDA921E147D2}"/>
              </a:ext>
            </a:extLst>
          </p:cNvPr>
          <p:cNvSpPr/>
          <p:nvPr/>
        </p:nvSpPr>
        <p:spPr>
          <a:xfrm>
            <a:off x="4752132" y="2844216"/>
            <a:ext cx="364960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C4A2365-4394-4DB4-87E0-561BFF49D591}"/>
              </a:ext>
            </a:extLst>
          </p:cNvPr>
          <p:cNvSpPr/>
          <p:nvPr/>
        </p:nvSpPr>
        <p:spPr>
          <a:xfrm>
            <a:off x="838197" y="2767263"/>
            <a:ext cx="9801726" cy="306404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74D558F-CDC4-4E9E-92CA-6D264EEAD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859" y="2843965"/>
            <a:ext cx="5237297" cy="2801672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DDE8CE-0F16-4A5B-A8FC-9ACD4B2807DB}"/>
              </a:ext>
            </a:extLst>
          </p:cNvPr>
          <p:cNvSpPr/>
          <p:nvPr/>
        </p:nvSpPr>
        <p:spPr>
          <a:xfrm>
            <a:off x="10132196" y="2844216"/>
            <a:ext cx="364960" cy="353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20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2978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ko-KR" altLang="en-US" dirty="0"/>
              <a:t>비주얼 스튜디오 코드 설치하기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8688A9-4C91-4011-ACD8-D0C749967149}"/>
              </a:ext>
            </a:extLst>
          </p:cNvPr>
          <p:cNvSpPr/>
          <p:nvPr/>
        </p:nvSpPr>
        <p:spPr>
          <a:xfrm>
            <a:off x="838200" y="1338957"/>
            <a:ext cx="10515600" cy="496485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ㅁ</a:t>
            </a:r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20A96A6F-BAC5-41C2-BA11-6101902CD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957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비주얼 스튜디오 코드 화면 구성 둘러보기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3C341F5-26EC-4BAC-8F29-944C7C875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32644"/>
            <a:ext cx="6010803" cy="365481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3C0B0D5-8BEB-4223-A5EF-8195CF842FD8}"/>
              </a:ext>
            </a:extLst>
          </p:cNvPr>
          <p:cNvSpPr/>
          <p:nvPr/>
        </p:nvSpPr>
        <p:spPr>
          <a:xfrm>
            <a:off x="1180221" y="2619588"/>
            <a:ext cx="2801229" cy="1251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순서도: 연결자 16">
            <a:extLst>
              <a:ext uri="{FF2B5EF4-FFF2-40B4-BE49-F238E27FC236}">
                <a16:creationId xmlns:a16="http://schemas.microsoft.com/office/drawing/2014/main" id="{07496E73-7664-4938-91B9-5EF48A92C988}"/>
              </a:ext>
            </a:extLst>
          </p:cNvPr>
          <p:cNvSpPr/>
          <p:nvPr/>
        </p:nvSpPr>
        <p:spPr>
          <a:xfrm>
            <a:off x="1118855" y="2552123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87925D-1E7D-48DA-A7F3-7186166A571B}"/>
              </a:ext>
            </a:extLst>
          </p:cNvPr>
          <p:cNvSpPr/>
          <p:nvPr/>
        </p:nvSpPr>
        <p:spPr>
          <a:xfrm>
            <a:off x="884462" y="2465734"/>
            <a:ext cx="226841" cy="2075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순서도: 연결자 26">
            <a:extLst>
              <a:ext uri="{FF2B5EF4-FFF2-40B4-BE49-F238E27FC236}">
                <a16:creationId xmlns:a16="http://schemas.microsoft.com/office/drawing/2014/main" id="{A6F6DAFD-B483-454C-8364-B6B0BD71D32B}"/>
              </a:ext>
            </a:extLst>
          </p:cNvPr>
          <p:cNvSpPr/>
          <p:nvPr/>
        </p:nvSpPr>
        <p:spPr>
          <a:xfrm>
            <a:off x="823096" y="2393914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8E7628D-29FA-4C22-8A19-490AD55DD3E7}"/>
              </a:ext>
            </a:extLst>
          </p:cNvPr>
          <p:cNvSpPr/>
          <p:nvPr/>
        </p:nvSpPr>
        <p:spPr>
          <a:xfrm>
            <a:off x="884462" y="2750591"/>
            <a:ext cx="234393" cy="1914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E236DEB9-6405-41F5-9A8D-5F6DEE2F63C4}"/>
              </a:ext>
            </a:extLst>
          </p:cNvPr>
          <p:cNvSpPr/>
          <p:nvPr/>
        </p:nvSpPr>
        <p:spPr>
          <a:xfrm>
            <a:off x="823096" y="2678771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7F4967D-C237-4EE6-BDF3-D60A7D618292}"/>
              </a:ext>
            </a:extLst>
          </p:cNvPr>
          <p:cNvSpPr/>
          <p:nvPr/>
        </p:nvSpPr>
        <p:spPr>
          <a:xfrm>
            <a:off x="876910" y="3033224"/>
            <a:ext cx="234393" cy="1914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순서도: 연결자 30">
            <a:extLst>
              <a:ext uri="{FF2B5EF4-FFF2-40B4-BE49-F238E27FC236}">
                <a16:creationId xmlns:a16="http://schemas.microsoft.com/office/drawing/2014/main" id="{92852E16-B0D4-4C35-881C-D87528D272E1}"/>
              </a:ext>
            </a:extLst>
          </p:cNvPr>
          <p:cNvSpPr/>
          <p:nvPr/>
        </p:nvSpPr>
        <p:spPr>
          <a:xfrm>
            <a:off x="815544" y="2961404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A6FC37E-9248-449F-9D4D-3F0890966E8F}"/>
              </a:ext>
            </a:extLst>
          </p:cNvPr>
          <p:cNvSpPr/>
          <p:nvPr/>
        </p:nvSpPr>
        <p:spPr>
          <a:xfrm>
            <a:off x="876910" y="3337427"/>
            <a:ext cx="234393" cy="1914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순서도: 연결자 32">
            <a:extLst>
              <a:ext uri="{FF2B5EF4-FFF2-40B4-BE49-F238E27FC236}">
                <a16:creationId xmlns:a16="http://schemas.microsoft.com/office/drawing/2014/main" id="{E46263F1-1566-40BD-BE92-FD01B742833F}"/>
              </a:ext>
            </a:extLst>
          </p:cNvPr>
          <p:cNvSpPr/>
          <p:nvPr/>
        </p:nvSpPr>
        <p:spPr>
          <a:xfrm>
            <a:off x="815544" y="3249501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83D1996-95B6-46F4-BA63-76B5683B14F6}"/>
              </a:ext>
            </a:extLst>
          </p:cNvPr>
          <p:cNvSpPr/>
          <p:nvPr/>
        </p:nvSpPr>
        <p:spPr>
          <a:xfrm>
            <a:off x="884462" y="3616716"/>
            <a:ext cx="226841" cy="1914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순서도: 연결자 34">
            <a:extLst>
              <a:ext uri="{FF2B5EF4-FFF2-40B4-BE49-F238E27FC236}">
                <a16:creationId xmlns:a16="http://schemas.microsoft.com/office/drawing/2014/main" id="{0BA62AEE-0627-4C14-95AE-CE3909813454}"/>
              </a:ext>
            </a:extLst>
          </p:cNvPr>
          <p:cNvSpPr/>
          <p:nvPr/>
        </p:nvSpPr>
        <p:spPr>
          <a:xfrm>
            <a:off x="815544" y="3544895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7DFC6B8-1ECD-4D5B-9944-7D4F6196F7FF}"/>
              </a:ext>
            </a:extLst>
          </p:cNvPr>
          <p:cNvSpPr/>
          <p:nvPr/>
        </p:nvSpPr>
        <p:spPr>
          <a:xfrm>
            <a:off x="6498656" y="2437543"/>
            <a:ext cx="152023" cy="1618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순서도: 연결자 36">
            <a:extLst>
              <a:ext uri="{FF2B5EF4-FFF2-40B4-BE49-F238E27FC236}">
                <a16:creationId xmlns:a16="http://schemas.microsoft.com/office/drawing/2014/main" id="{BA4890EC-D2C4-401D-AD62-A1E2D9FD030B}"/>
              </a:ext>
            </a:extLst>
          </p:cNvPr>
          <p:cNvSpPr/>
          <p:nvPr/>
        </p:nvSpPr>
        <p:spPr>
          <a:xfrm>
            <a:off x="6428496" y="2385001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7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D8BC72-4D45-4954-BAC6-F025B97D21A6}"/>
              </a:ext>
            </a:extLst>
          </p:cNvPr>
          <p:cNvSpPr txBox="1"/>
          <p:nvPr/>
        </p:nvSpPr>
        <p:spPr>
          <a:xfrm>
            <a:off x="6849003" y="2231112"/>
            <a:ext cx="4573715" cy="37548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편집기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파일을 열어 코드를 추가 및 수정할 수 있는 탭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342900" indent="-342900">
              <a:buAutoNum type="arabicPeriod"/>
            </a:pP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탐색기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코딩 작업을 진행할 폴더 트리 및 열려 있는 파일을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확인할 수 있는 탭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검색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열려 있는 폴더 대상으로 검색할 수 있는 탭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단축키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Ctrl + Shift + F)</a:t>
            </a: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4. Git : Git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소스 트리 버전관리가 가능한 탭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5.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디버그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코드를 돌려보고 에러를 확인 할 수 있는 탭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확장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코드 문법 검사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자동 정렬 등 확장 플러그인 설치할 수 있는 탭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7.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편집기 분할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코드 편집기를 상하좌우로 분할해서 한번에 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여러 파일을 볼 수 있게 하는 기능</a:t>
            </a:r>
          </a:p>
        </p:txBody>
      </p:sp>
    </p:spTree>
    <p:extLst>
      <p:ext uri="{BB962C8B-B14F-4D97-AF65-F5344CB8AC3E}">
        <p14:creationId xmlns:p14="http://schemas.microsoft.com/office/powerpoint/2010/main" val="1119136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둘러보기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GitHub 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메인 화면 구성 둘러보기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EBD2D55-12E9-46D1-9328-CAA68FA5D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0421"/>
            <a:ext cx="6634320" cy="472592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901DC3A-B582-4AC7-BC07-71D02B5501B4}"/>
              </a:ext>
            </a:extLst>
          </p:cNvPr>
          <p:cNvSpPr/>
          <p:nvPr/>
        </p:nvSpPr>
        <p:spPr>
          <a:xfrm>
            <a:off x="991077" y="2325057"/>
            <a:ext cx="666901" cy="1970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29AAEBC4-40E2-4B55-8C43-7FC934C7BF78}"/>
              </a:ext>
            </a:extLst>
          </p:cNvPr>
          <p:cNvSpPr/>
          <p:nvPr/>
        </p:nvSpPr>
        <p:spPr>
          <a:xfrm>
            <a:off x="929711" y="2253237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2E089A-533D-41B7-8E9A-B1AEC0A73098}"/>
              </a:ext>
            </a:extLst>
          </p:cNvPr>
          <p:cNvSpPr/>
          <p:nvPr/>
        </p:nvSpPr>
        <p:spPr>
          <a:xfrm>
            <a:off x="3454598" y="1764025"/>
            <a:ext cx="305639" cy="2047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5497D9AB-4849-45B9-9684-4BF4AD1D9AFB}"/>
              </a:ext>
            </a:extLst>
          </p:cNvPr>
          <p:cNvSpPr/>
          <p:nvPr/>
        </p:nvSpPr>
        <p:spPr>
          <a:xfrm>
            <a:off x="3393232" y="1692205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4BF09A-EAB2-4BCA-AAF9-1155A3F326A1}"/>
              </a:ext>
            </a:extLst>
          </p:cNvPr>
          <p:cNvSpPr/>
          <p:nvPr/>
        </p:nvSpPr>
        <p:spPr>
          <a:xfrm>
            <a:off x="3821603" y="1764477"/>
            <a:ext cx="305639" cy="2047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D4F52C52-3128-4294-863B-5EFCB09BEBDE}"/>
              </a:ext>
            </a:extLst>
          </p:cNvPr>
          <p:cNvSpPr/>
          <p:nvPr/>
        </p:nvSpPr>
        <p:spPr>
          <a:xfrm>
            <a:off x="3760237" y="1692657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1AEAEB-FA19-4E68-8D5F-301473C2C748}"/>
              </a:ext>
            </a:extLst>
          </p:cNvPr>
          <p:cNvSpPr/>
          <p:nvPr/>
        </p:nvSpPr>
        <p:spPr>
          <a:xfrm>
            <a:off x="4204606" y="1764025"/>
            <a:ext cx="650988" cy="2047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순서도: 연결자 16">
            <a:extLst>
              <a:ext uri="{FF2B5EF4-FFF2-40B4-BE49-F238E27FC236}">
                <a16:creationId xmlns:a16="http://schemas.microsoft.com/office/drawing/2014/main" id="{492B1733-D578-442C-A53D-C1D109CBDDFE}"/>
              </a:ext>
            </a:extLst>
          </p:cNvPr>
          <p:cNvSpPr/>
          <p:nvPr/>
        </p:nvSpPr>
        <p:spPr>
          <a:xfrm>
            <a:off x="4145774" y="1688928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3C11AB5-085A-46F0-B03D-31B0286F0C4A}"/>
              </a:ext>
            </a:extLst>
          </p:cNvPr>
          <p:cNvSpPr/>
          <p:nvPr/>
        </p:nvSpPr>
        <p:spPr>
          <a:xfrm>
            <a:off x="4903866" y="1764025"/>
            <a:ext cx="405252" cy="2047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478FD30E-76AF-4817-A1E5-F890425F892E}"/>
              </a:ext>
            </a:extLst>
          </p:cNvPr>
          <p:cNvSpPr/>
          <p:nvPr/>
        </p:nvSpPr>
        <p:spPr>
          <a:xfrm>
            <a:off x="4842500" y="1692205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1B111FD-7B89-4D49-A975-B7C946967F7A}"/>
              </a:ext>
            </a:extLst>
          </p:cNvPr>
          <p:cNvSpPr/>
          <p:nvPr/>
        </p:nvSpPr>
        <p:spPr>
          <a:xfrm>
            <a:off x="6490536" y="1755147"/>
            <a:ext cx="187975" cy="2136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3AA0AA68-61A4-42BE-92A3-689DDB144C81}"/>
              </a:ext>
            </a:extLst>
          </p:cNvPr>
          <p:cNvSpPr/>
          <p:nvPr/>
        </p:nvSpPr>
        <p:spPr>
          <a:xfrm>
            <a:off x="6429170" y="1683327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238C4FC-F086-4467-AA1E-C1D8A2FF8902}"/>
              </a:ext>
            </a:extLst>
          </p:cNvPr>
          <p:cNvSpPr/>
          <p:nvPr/>
        </p:nvSpPr>
        <p:spPr>
          <a:xfrm>
            <a:off x="6726783" y="1764025"/>
            <a:ext cx="187975" cy="2047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3AE741E9-2D17-42A0-B066-18385FFC1A26}"/>
              </a:ext>
            </a:extLst>
          </p:cNvPr>
          <p:cNvSpPr/>
          <p:nvPr/>
        </p:nvSpPr>
        <p:spPr>
          <a:xfrm>
            <a:off x="6665417" y="1683327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7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57B593E-D35A-4CD9-91B9-FD5302434A17}"/>
              </a:ext>
            </a:extLst>
          </p:cNvPr>
          <p:cNvSpPr/>
          <p:nvPr/>
        </p:nvSpPr>
        <p:spPr>
          <a:xfrm>
            <a:off x="3138614" y="2316701"/>
            <a:ext cx="621623" cy="2047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순서도: 연결자 26">
            <a:extLst>
              <a:ext uri="{FF2B5EF4-FFF2-40B4-BE49-F238E27FC236}">
                <a16:creationId xmlns:a16="http://schemas.microsoft.com/office/drawing/2014/main" id="{8900FCCA-B29B-494E-B8B6-D784F23B1EE2}"/>
              </a:ext>
            </a:extLst>
          </p:cNvPr>
          <p:cNvSpPr/>
          <p:nvPr/>
        </p:nvSpPr>
        <p:spPr>
          <a:xfrm>
            <a:off x="3059781" y="2240001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8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5BA3A2-D81E-47B8-BE53-AB42C0B4088B}"/>
              </a:ext>
            </a:extLst>
          </p:cNvPr>
          <p:cNvSpPr txBox="1"/>
          <p:nvPr/>
        </p:nvSpPr>
        <p:spPr>
          <a:xfrm>
            <a:off x="7483088" y="1577339"/>
            <a:ext cx="3918984" cy="48320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저장소 목록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(Repositories) :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현재 기여하고 있는 모든 원격저장소 목록이 표시되며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최근에 코드를 올린 순서대로 정렬된다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풀 </a:t>
            </a:r>
            <a:r>
              <a:rPr lang="ko-KR" altLang="en-US" sz="14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리퀘스트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(Pull requests) :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관련된 모든 풀 </a:t>
            </a:r>
            <a:r>
              <a:rPr lang="ko-KR" altLang="en-US" sz="14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리퀘스트를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볼 수 있다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체계적인 코드 협업을 도와준다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이슈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(Issues) :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각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저장소에서 해결해야 하는 이슈를 만들 수 있다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자신 코드에 대한 모든 이슈를 알 수 있다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4. </a:t>
            </a:r>
            <a:r>
              <a:rPr lang="ko-KR" altLang="en-US" sz="14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마켓플레이스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(Marketplace) :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코드를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GitHub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에 올리면 자동으로 빌드해 주거나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메신저와 연동할 수 있는 등의 플러그인을 볼 수 있다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둘러보기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(Explore) :</a:t>
            </a:r>
          </a:p>
          <a:p>
            <a:r>
              <a:rPr lang="en-US" altLang="ko-KR" sz="14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Github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관련된 블로그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다양한 저장소를 볼 수 있다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6.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알림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(Notifications) :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나와 관련된 모든 이슈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풀 </a:t>
            </a:r>
            <a:r>
              <a:rPr lang="ko-KR" altLang="en-US" sz="14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리퀘스트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sz="14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멘션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등의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알림으로 오고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목록으로 저장된다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0156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둘러보기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GitHub 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메인 화면 구성 둘러보기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EBD2D55-12E9-46D1-9328-CAA68FA5D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0421"/>
            <a:ext cx="6634320" cy="472592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901DC3A-B582-4AC7-BC07-71D02B5501B4}"/>
              </a:ext>
            </a:extLst>
          </p:cNvPr>
          <p:cNvSpPr/>
          <p:nvPr/>
        </p:nvSpPr>
        <p:spPr>
          <a:xfrm>
            <a:off x="991077" y="2325057"/>
            <a:ext cx="666901" cy="1970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29AAEBC4-40E2-4B55-8C43-7FC934C7BF78}"/>
              </a:ext>
            </a:extLst>
          </p:cNvPr>
          <p:cNvSpPr/>
          <p:nvPr/>
        </p:nvSpPr>
        <p:spPr>
          <a:xfrm>
            <a:off x="929711" y="2253237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2E089A-533D-41B7-8E9A-B1AEC0A73098}"/>
              </a:ext>
            </a:extLst>
          </p:cNvPr>
          <p:cNvSpPr/>
          <p:nvPr/>
        </p:nvSpPr>
        <p:spPr>
          <a:xfrm>
            <a:off x="3454598" y="1764025"/>
            <a:ext cx="305639" cy="2047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5497D9AB-4849-45B9-9684-4BF4AD1D9AFB}"/>
              </a:ext>
            </a:extLst>
          </p:cNvPr>
          <p:cNvSpPr/>
          <p:nvPr/>
        </p:nvSpPr>
        <p:spPr>
          <a:xfrm>
            <a:off x="3393232" y="1692205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4BF09A-EAB2-4BCA-AAF9-1155A3F326A1}"/>
              </a:ext>
            </a:extLst>
          </p:cNvPr>
          <p:cNvSpPr/>
          <p:nvPr/>
        </p:nvSpPr>
        <p:spPr>
          <a:xfrm>
            <a:off x="3821603" y="1764477"/>
            <a:ext cx="305639" cy="2047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D4F52C52-3128-4294-863B-5EFCB09BEBDE}"/>
              </a:ext>
            </a:extLst>
          </p:cNvPr>
          <p:cNvSpPr/>
          <p:nvPr/>
        </p:nvSpPr>
        <p:spPr>
          <a:xfrm>
            <a:off x="3760237" y="1692657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1AEAEB-FA19-4E68-8D5F-301473C2C748}"/>
              </a:ext>
            </a:extLst>
          </p:cNvPr>
          <p:cNvSpPr/>
          <p:nvPr/>
        </p:nvSpPr>
        <p:spPr>
          <a:xfrm>
            <a:off x="4204606" y="1764025"/>
            <a:ext cx="650988" cy="2047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순서도: 연결자 16">
            <a:extLst>
              <a:ext uri="{FF2B5EF4-FFF2-40B4-BE49-F238E27FC236}">
                <a16:creationId xmlns:a16="http://schemas.microsoft.com/office/drawing/2014/main" id="{492B1733-D578-442C-A53D-C1D109CBDDFE}"/>
              </a:ext>
            </a:extLst>
          </p:cNvPr>
          <p:cNvSpPr/>
          <p:nvPr/>
        </p:nvSpPr>
        <p:spPr>
          <a:xfrm>
            <a:off x="4145774" y="1688928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3C11AB5-085A-46F0-B03D-31B0286F0C4A}"/>
              </a:ext>
            </a:extLst>
          </p:cNvPr>
          <p:cNvSpPr/>
          <p:nvPr/>
        </p:nvSpPr>
        <p:spPr>
          <a:xfrm>
            <a:off x="4903866" y="1764025"/>
            <a:ext cx="405252" cy="2047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478FD30E-76AF-4817-A1E5-F890425F892E}"/>
              </a:ext>
            </a:extLst>
          </p:cNvPr>
          <p:cNvSpPr/>
          <p:nvPr/>
        </p:nvSpPr>
        <p:spPr>
          <a:xfrm>
            <a:off x="4842500" y="1692205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1B111FD-7B89-4D49-A975-B7C946967F7A}"/>
              </a:ext>
            </a:extLst>
          </p:cNvPr>
          <p:cNvSpPr/>
          <p:nvPr/>
        </p:nvSpPr>
        <p:spPr>
          <a:xfrm>
            <a:off x="6490536" y="1755147"/>
            <a:ext cx="187975" cy="2136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3AA0AA68-61A4-42BE-92A3-689DDB144C81}"/>
              </a:ext>
            </a:extLst>
          </p:cNvPr>
          <p:cNvSpPr/>
          <p:nvPr/>
        </p:nvSpPr>
        <p:spPr>
          <a:xfrm>
            <a:off x="6429170" y="1683327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238C4FC-F086-4467-AA1E-C1D8A2FF8902}"/>
              </a:ext>
            </a:extLst>
          </p:cNvPr>
          <p:cNvSpPr/>
          <p:nvPr/>
        </p:nvSpPr>
        <p:spPr>
          <a:xfrm>
            <a:off x="6726783" y="1764025"/>
            <a:ext cx="187975" cy="2047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3AE741E9-2D17-42A0-B066-18385FFC1A26}"/>
              </a:ext>
            </a:extLst>
          </p:cNvPr>
          <p:cNvSpPr/>
          <p:nvPr/>
        </p:nvSpPr>
        <p:spPr>
          <a:xfrm>
            <a:off x="6665417" y="1683327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7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57B593E-D35A-4CD9-91B9-FD5302434A17}"/>
              </a:ext>
            </a:extLst>
          </p:cNvPr>
          <p:cNvSpPr/>
          <p:nvPr/>
        </p:nvSpPr>
        <p:spPr>
          <a:xfrm>
            <a:off x="3138614" y="2316701"/>
            <a:ext cx="621623" cy="2047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순서도: 연결자 26">
            <a:extLst>
              <a:ext uri="{FF2B5EF4-FFF2-40B4-BE49-F238E27FC236}">
                <a16:creationId xmlns:a16="http://schemas.microsoft.com/office/drawing/2014/main" id="{8900FCCA-B29B-494E-B8B6-D784F23B1EE2}"/>
              </a:ext>
            </a:extLst>
          </p:cNvPr>
          <p:cNvSpPr/>
          <p:nvPr/>
        </p:nvSpPr>
        <p:spPr>
          <a:xfrm>
            <a:off x="3059781" y="2240001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8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5BA3A2-D81E-47B8-BE53-AB42C0B4088B}"/>
              </a:ext>
            </a:extLst>
          </p:cNvPr>
          <p:cNvSpPr txBox="1"/>
          <p:nvPr/>
        </p:nvSpPr>
        <p:spPr>
          <a:xfrm>
            <a:off x="7483088" y="1577339"/>
            <a:ext cx="3918984" cy="16004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7.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새로 만들기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: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새 저장소나 단체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혹은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gist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를 만들 수 있다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8.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모든 활동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(All activity) : 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내가 </a:t>
            </a:r>
            <a:r>
              <a:rPr lang="ko-KR" altLang="en-US" sz="14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팔로우하는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저장소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sz="14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팔로우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하는 유저의 활동이 보인다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8005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A8A26-6811-4DF2-9B27-158944AA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40"/>
            <a:ext cx="10515600" cy="858194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GitHub </a:t>
            </a:r>
            <a:r>
              <a:rPr lang="ko-KR" altLang="en-US" dirty="0"/>
              <a:t>둘러보기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A48F-3D50-422E-9698-CC17A9967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5144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GitHub </a:t>
            </a: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원격저장소 생성 화면</a:t>
            </a: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75C13-9943-4342-97A9-0A959DFA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A937C4-C3A8-4AA4-95AB-088BB16C5CC0}"/>
              </a:ext>
            </a:extLst>
          </p:cNvPr>
          <p:cNvSpPr/>
          <p:nvPr/>
        </p:nvSpPr>
        <p:spPr>
          <a:xfrm>
            <a:off x="838200" y="1202329"/>
            <a:ext cx="10515600" cy="51540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01383D-CDBA-4691-B2E9-2E2392507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07340"/>
            <a:ext cx="4752592" cy="464901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8DBE8CD6-FB05-47D1-A2EE-47089FBA277B}"/>
              </a:ext>
            </a:extLst>
          </p:cNvPr>
          <p:cNvSpPr/>
          <p:nvPr/>
        </p:nvSpPr>
        <p:spPr>
          <a:xfrm>
            <a:off x="2260040" y="2968870"/>
            <a:ext cx="666901" cy="1970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순서도: 연결자 29">
            <a:extLst>
              <a:ext uri="{FF2B5EF4-FFF2-40B4-BE49-F238E27FC236}">
                <a16:creationId xmlns:a16="http://schemas.microsoft.com/office/drawing/2014/main" id="{519EDE02-2C6E-4B7A-8204-767FE1B47039}"/>
              </a:ext>
            </a:extLst>
          </p:cNvPr>
          <p:cNvSpPr/>
          <p:nvPr/>
        </p:nvSpPr>
        <p:spPr>
          <a:xfrm>
            <a:off x="2198674" y="2897050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A8E0F8C-2D9E-4D65-8442-133A0851301A}"/>
              </a:ext>
            </a:extLst>
          </p:cNvPr>
          <p:cNvSpPr/>
          <p:nvPr/>
        </p:nvSpPr>
        <p:spPr>
          <a:xfrm>
            <a:off x="1243003" y="3545049"/>
            <a:ext cx="763079" cy="1871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1B010CD8-CBA9-466C-9754-38A613B0D717}"/>
              </a:ext>
            </a:extLst>
          </p:cNvPr>
          <p:cNvSpPr/>
          <p:nvPr/>
        </p:nvSpPr>
        <p:spPr>
          <a:xfrm>
            <a:off x="1184171" y="3487025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69E660A-9180-40F8-B3F5-4D8E7A4794FF}"/>
              </a:ext>
            </a:extLst>
          </p:cNvPr>
          <p:cNvSpPr/>
          <p:nvPr/>
        </p:nvSpPr>
        <p:spPr>
          <a:xfrm>
            <a:off x="1243003" y="4030394"/>
            <a:ext cx="2619870" cy="2607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순서도: 연결자 33">
            <a:extLst>
              <a:ext uri="{FF2B5EF4-FFF2-40B4-BE49-F238E27FC236}">
                <a16:creationId xmlns:a16="http://schemas.microsoft.com/office/drawing/2014/main" id="{D7649032-D44A-446C-A4C4-E3AC501153D2}"/>
              </a:ext>
            </a:extLst>
          </p:cNvPr>
          <p:cNvSpPr/>
          <p:nvPr/>
        </p:nvSpPr>
        <p:spPr>
          <a:xfrm>
            <a:off x="1181637" y="3958574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47C3958-6B57-48A0-AFBD-8D420A5671A9}"/>
              </a:ext>
            </a:extLst>
          </p:cNvPr>
          <p:cNvSpPr/>
          <p:nvPr/>
        </p:nvSpPr>
        <p:spPr>
          <a:xfrm>
            <a:off x="1230323" y="5022639"/>
            <a:ext cx="850404" cy="1531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4500F698-7929-453D-B175-14E09D3C2F5E}"/>
              </a:ext>
            </a:extLst>
          </p:cNvPr>
          <p:cNvSpPr/>
          <p:nvPr/>
        </p:nvSpPr>
        <p:spPr>
          <a:xfrm>
            <a:off x="1168956" y="4950818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BD39826-5508-429E-9950-EB5B112678C9}"/>
              </a:ext>
            </a:extLst>
          </p:cNvPr>
          <p:cNvSpPr/>
          <p:nvPr/>
        </p:nvSpPr>
        <p:spPr>
          <a:xfrm>
            <a:off x="1243003" y="5318247"/>
            <a:ext cx="688434" cy="1531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순서도: 연결자 37">
            <a:extLst>
              <a:ext uri="{FF2B5EF4-FFF2-40B4-BE49-F238E27FC236}">
                <a16:creationId xmlns:a16="http://schemas.microsoft.com/office/drawing/2014/main" id="{1518E1C9-D042-435A-9A00-2246251235BF}"/>
              </a:ext>
            </a:extLst>
          </p:cNvPr>
          <p:cNvSpPr/>
          <p:nvPr/>
        </p:nvSpPr>
        <p:spPr>
          <a:xfrm>
            <a:off x="1181637" y="5247627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E34C4D0-A5E5-48BB-B2BF-44B65F1AA8A0}"/>
              </a:ext>
            </a:extLst>
          </p:cNvPr>
          <p:cNvSpPr/>
          <p:nvPr/>
        </p:nvSpPr>
        <p:spPr>
          <a:xfrm>
            <a:off x="1243003" y="5629198"/>
            <a:ext cx="763079" cy="1454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순서도: 연결자 39">
            <a:extLst>
              <a:ext uri="{FF2B5EF4-FFF2-40B4-BE49-F238E27FC236}">
                <a16:creationId xmlns:a16="http://schemas.microsoft.com/office/drawing/2014/main" id="{9B1A3D54-8D07-4099-8343-8E286C1D47EC}"/>
              </a:ext>
            </a:extLst>
          </p:cNvPr>
          <p:cNvSpPr/>
          <p:nvPr/>
        </p:nvSpPr>
        <p:spPr>
          <a:xfrm>
            <a:off x="1181637" y="5557378"/>
            <a:ext cx="117664" cy="106266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A1F6AD-5243-4200-BB44-FC3EB6F7256D}"/>
              </a:ext>
            </a:extLst>
          </p:cNvPr>
          <p:cNvSpPr txBox="1"/>
          <p:nvPr/>
        </p:nvSpPr>
        <p:spPr>
          <a:xfrm>
            <a:off x="5566656" y="1558524"/>
            <a:ext cx="5811280" cy="504753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저장소 이름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작업할 프로젝트 이름을 입력합니다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이름에 따라 저장소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URL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 결정됨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저장소 간단 설명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저장소 이름에 표시될 간단한 설명을 작성한다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공개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/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비공개 설정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저장소를 공개해서 누구나 코드를 볼 수 있도록 할지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비공개로 만들어서 등록된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사람만 볼 수 있도록 할지 선택한다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4. README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로 첫 내용 설정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: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 옵션에 체크 하면 빈 저장소가 아니고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README.md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파일이 담긴 저장소가 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생성된다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코드로 고간을 만들 때에는 코드에 대한 설명을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README.md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라는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이름의 파일에 기록된다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5. .</a:t>
            </a:r>
            <a:r>
              <a:rPr lang="en-US" altLang="ko-KR" sz="14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gitignore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 추가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</a:t>
            </a: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GitHub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에 올리지 않기를 바라는 파일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보안 비밀번호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)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 자동으로 목록에 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추가되며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올리지 않기를 바라는 파일을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  <a:r>
              <a:rPr lang="en-US" altLang="ko-KR" sz="14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gitignore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파일로 만들 수 있다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6. </a:t>
            </a:r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라이선스 파일 추가 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</a:t>
            </a: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공개적으로 사용하고 다른 사용자도 참여하도록 만들어진 오픈소스에도</a:t>
            </a:r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지적 재산권을 부여할 수 있다</a:t>
            </a:r>
            <a:r>
              <a:rPr lang="en-US" altLang="ko-KR" sz="14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sz="14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2525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DCA034-6693-417F-9C39-21E66B49F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C8A55-6E54-457F-ADF8-CC0D4E187917}"/>
              </a:ext>
            </a:extLst>
          </p:cNvPr>
          <p:cNvSpPr txBox="1"/>
          <p:nvPr/>
        </p:nvSpPr>
        <p:spPr>
          <a:xfrm>
            <a:off x="801872" y="2921168"/>
            <a:ext cx="10588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수고하셨습니다</a:t>
            </a:r>
            <a:r>
              <a:rPr lang="en-US" altLang="ko-KR" sz="60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  <a:endParaRPr lang="ko-KR" altLang="en-US" sz="60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4423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2316</TotalTime>
  <Words>740</Words>
  <Application>Microsoft Office PowerPoint</Application>
  <PresentationFormat>와이드스크린</PresentationFormat>
  <Paragraphs>169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넥슨Lv2고딕 Medium</vt:lpstr>
      <vt:lpstr>맑은 고딕</vt:lpstr>
      <vt:lpstr>Arial</vt:lpstr>
      <vt:lpstr>Office 테마</vt:lpstr>
      <vt:lpstr>GUI 환경에서 버전 관리 시작하기  Chapter 1</vt:lpstr>
      <vt:lpstr>소스 트리 설치하기</vt:lpstr>
      <vt:lpstr>소스 트리 설치하기</vt:lpstr>
      <vt:lpstr>소스 트리 설치하기</vt:lpstr>
      <vt:lpstr>비주얼 스튜디오 코드 설치하기</vt:lpstr>
      <vt:lpstr>비주얼 스튜디오 코드 설치하기</vt:lpstr>
      <vt:lpstr>GitHub 둘러보기</vt:lpstr>
      <vt:lpstr>GitHub 둘러보기</vt:lpstr>
      <vt:lpstr>GitHub 둘러보기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Kwak TaeKeun</cp:lastModifiedBy>
  <cp:revision>15</cp:revision>
  <dcterms:modified xsi:type="dcterms:W3CDTF">2021-12-29T01:37:47Z</dcterms:modified>
</cp:coreProperties>
</file>