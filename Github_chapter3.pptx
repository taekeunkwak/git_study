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6"/>
  </p:notesMasterIdLst>
  <p:handoutMasterIdLst>
    <p:handoutMasterId r:id="rId57"/>
  </p:handout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30" r:id="rId50"/>
    <p:sldId id="331" r:id="rId51"/>
    <p:sldId id="332" r:id="rId52"/>
    <p:sldId id="333" r:id="rId53"/>
    <p:sldId id="334" r:id="rId54"/>
    <p:sldId id="273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59AF"/>
    <a:srgbClr val="7C6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2022-01-10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‹#›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8F563C85-90F6-445D-9B5B-8ABB00FB3043}" type="datetimeFigureOut">
              <a:rPr lang="ko-KR" altLang="en-US" smtClean="0"/>
              <a:pPr/>
              <a:t>2022-01-10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0B16B34-ED2F-4269-81E8-097D50C902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57A28-628D-4B56-B193-622F5A74F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235F0-DF94-4F8B-B33F-4550B002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24513-D61C-4157-AD5C-E41746CB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EC54-77E7-4FEA-94D1-0451EFA7AD7C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16210-A05F-426E-B71B-257AD6FF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49AF5A-9F41-482C-8DA3-F80E61A8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9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6B5E1-25AF-4E76-9947-177A8113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06DBD-559D-430C-8E79-5D00388AB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50FF1-E89B-44E2-A536-765E6558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E073A-8971-4EEF-88C6-31BD408A05B2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06D8C-23BB-4601-BE8F-4D31569A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513AC-04C4-467E-81A6-60953FE9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67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1450B-581F-4C5D-984E-16F4557B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CD45B-16BE-4180-BD08-74F656A8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4C443-E7CF-47F8-8BD4-778D4F97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DD4B-519E-4042-9DAE-3260195E9999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D11E6-4EC4-4E0E-B875-D2DEDFFE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B129D-C48C-4B94-8F42-BBC9EE4C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7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EBE4C-5757-4DF9-A099-F97CCAA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D3E1E-236F-44D9-AF8F-E3C5F91A3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3ACBE-38A3-4F57-ABE1-F5D7AB418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31C29D-F386-4D4D-90E5-CBBF26E7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3B3-7C75-4C2A-942F-29C23C383D68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9FAC8E-40FF-463D-AA50-3FC9D7BC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E5F84-2DBF-4C8A-A100-82CB84D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0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53585-66AD-400D-B0E2-9656E7C0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C33ADC-8AC1-4893-B8CA-FCB4C0F6E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DFE2AB-CD53-4083-A1D9-21107F216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BF89F-47AA-446E-B634-48BEF266C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B56064-6721-4E46-AC90-817C3B977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4FD54E-B3F2-484A-9795-C9579A46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9268-CC97-49B8-90FB-DD8B794FCAB9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D08686-DBF0-40B6-8273-302E7A2A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120F29-A9F9-4BA8-A887-82BBB522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85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668BB-A863-4A7C-927D-CB1C23ED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9B55D-06E5-45DF-8059-34E7EF52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5E721-BA45-40CA-9AD9-5636B2BA0929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EBCC43-8C51-4B68-B4B2-4BEBE06F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D5AB32-4C56-48E0-B85C-265529F2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21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30C2DA-EFFD-451C-8A24-70F12B0D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14A7-CA27-4C7E-A9BA-91DE9414EE9C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60C4DE-8C88-477F-AF9F-9A979598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594C0-E824-427A-B6A3-9DF89393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98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50DF9-F428-4B0A-90F7-E1045CC2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FBA4F3-3468-4523-982A-4F7373F94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CEBDE7-04EC-4F50-A116-C7DE658B5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7B3C79-71AB-45A9-8C04-FE10177D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3773-BA1D-4996-8FC5-4900A59D4223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4247F-2871-4B23-89F4-24870EE2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4DF79B-FF97-4875-BC8E-7527B26E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58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31C82-B8D4-43E7-8A45-02B52B8B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BA0240-8536-4014-A00D-2856387DC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379A66-077F-40BD-BAB7-8DA2721B8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948DE5-651B-4879-BE2A-22AE479E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21E1-E875-4383-8957-70C0BE4A1AF9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4CF90C-12B8-44CF-B9D4-F3749DC0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89953-06B0-48B9-8559-1FCA62EA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3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3C1C8-015B-4682-B0CD-63F44D5A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CE70BC-4CEF-4330-BFCF-9C7BFEE08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32DB38-08AD-42A7-A315-FAA2612D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1F4B4-223A-486B-973C-5F4977ED1BF2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4E3D1-49F5-4427-803A-EE753050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FDCFC-2E14-4FD7-BC6C-D94599F0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933965-1468-4FEF-A70C-CA8368E2A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01CB79-B8F0-46BD-A0D6-0B8B279DF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3B596-E5F7-4C36-B1B8-3C98A00D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EC01-E2E6-4F4E-B330-55E8C598DB94}" type="datetime1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93224-E226-4D38-9C38-6DAEEC61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D669B1-F204-4D56-9B4E-F9B61F54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01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C42C3C-D6B2-4F0F-8FA4-9AC03205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6F9FA-D127-43EB-AD29-85E22C4C7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0568B-EC24-4A29-A69E-88DC2A2D2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6142DE9-6E7F-4B7E-B5E9-2E0743C3FD71}" type="datetime1">
              <a:rPr lang="ko-KR" altLang="en-US" smtClean="0"/>
              <a:pPr/>
              <a:t>2022-01-10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02BF02-2189-4601-A843-C54529119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77516-76AD-4976-A6E3-E364F86C8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1D1169E2-93EA-4F50-8F12-231B5AD0A00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202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10577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여러 명이 함께 </a:t>
            </a:r>
            <a:r>
              <a:rPr lang="en-US" altLang="ko-KR" dirty="0"/>
              <a:t>Git</a:t>
            </a:r>
            <a:r>
              <a:rPr lang="ko-KR" altLang="en-US" dirty="0"/>
              <a:t>으로 협업하기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Chapter 3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67327" y="3880852"/>
            <a:ext cx="9400674" cy="2387600"/>
          </a:xfrm>
        </p:spPr>
        <p:txBody>
          <a:bodyPr>
            <a:normAutofit/>
          </a:bodyPr>
          <a:lstStyle/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 err="1"/>
              <a:t>DamoaTech</a:t>
            </a:r>
            <a:r>
              <a:rPr lang="en-US" altLang="ko-KR" dirty="0"/>
              <a:t>  </a:t>
            </a:r>
          </a:p>
          <a:p>
            <a:pPr algn="r"/>
            <a:r>
              <a:rPr lang="ko-KR" altLang="en-US" dirty="0"/>
              <a:t>곽태근 연구원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5F392F-73F4-40AD-AB72-4406818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449A28C-AFA7-4DCF-BE54-A5A9A25286CE}"/>
              </a:ext>
            </a:extLst>
          </p:cNvPr>
          <p:cNvSpPr/>
          <p:nvPr/>
        </p:nvSpPr>
        <p:spPr>
          <a:xfrm>
            <a:off x="1686336" y="1555829"/>
            <a:ext cx="1187493" cy="1081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01.02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55223EE-9E02-48A4-9AA2-70D8898E9840}"/>
              </a:ext>
            </a:extLst>
          </p:cNvPr>
          <p:cNvSpPr/>
          <p:nvPr/>
        </p:nvSpPr>
        <p:spPr>
          <a:xfrm>
            <a:off x="3472543" y="1555829"/>
            <a:ext cx="1187494" cy="109144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01.03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C68F589-57FC-40C4-8AFE-AC5900AD8E03}"/>
              </a:ext>
            </a:extLst>
          </p:cNvPr>
          <p:cNvSpPr/>
          <p:nvPr/>
        </p:nvSpPr>
        <p:spPr>
          <a:xfrm>
            <a:off x="5258749" y="1565316"/>
            <a:ext cx="1187494" cy="10914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01.05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0A6354D-3BDE-406F-A8AE-CDBDA4D98BD3}"/>
              </a:ext>
            </a:extLst>
          </p:cNvPr>
          <p:cNvSpPr/>
          <p:nvPr/>
        </p:nvSpPr>
        <p:spPr>
          <a:xfrm rot="10800000">
            <a:off x="2984361" y="1864063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3B18367-CE64-4D09-AB6B-62D4D9A1721C}"/>
              </a:ext>
            </a:extLst>
          </p:cNvPr>
          <p:cNvSpPr/>
          <p:nvPr/>
        </p:nvSpPr>
        <p:spPr>
          <a:xfrm rot="10800000">
            <a:off x="4770568" y="1873550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37548-FF3E-4EDC-BE9C-2E213BE9658C}"/>
              </a:ext>
            </a:extLst>
          </p:cNvPr>
          <p:cNvSpPr txBox="1"/>
          <p:nvPr/>
        </p:nvSpPr>
        <p:spPr>
          <a:xfrm>
            <a:off x="880068" y="2912736"/>
            <a:ext cx="785194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한 명이 작업한다면 위의 그림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처럼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한 줄로 계속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쌓아가면 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1B2B8FD-7EC8-4B85-B61D-35CC331054CA}"/>
              </a:ext>
            </a:extLst>
          </p:cNvPr>
          <p:cNvSpPr/>
          <p:nvPr/>
        </p:nvSpPr>
        <p:spPr>
          <a:xfrm rot="19968440">
            <a:off x="6610254" y="4025104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B8E9CD12-3B18-4EC5-BAAD-8E0BBF13A195}"/>
              </a:ext>
            </a:extLst>
          </p:cNvPr>
          <p:cNvSpPr/>
          <p:nvPr/>
        </p:nvSpPr>
        <p:spPr>
          <a:xfrm rot="1818627">
            <a:off x="6591833" y="4675549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E4A310C-20BD-4C84-ADF5-6715F1088F87}"/>
              </a:ext>
            </a:extLst>
          </p:cNvPr>
          <p:cNvSpPr/>
          <p:nvPr/>
        </p:nvSpPr>
        <p:spPr>
          <a:xfrm>
            <a:off x="7088721" y="3274207"/>
            <a:ext cx="1521879" cy="149130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01.06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(A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수정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FB275D3-CACB-4A51-B2D1-182C62A02702}"/>
              </a:ext>
            </a:extLst>
          </p:cNvPr>
          <p:cNvSpPr/>
          <p:nvPr/>
        </p:nvSpPr>
        <p:spPr>
          <a:xfrm>
            <a:off x="7077389" y="4765510"/>
            <a:ext cx="1533211" cy="14890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01.06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(B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수정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E3E084-C6F2-4716-B9B3-BAB5C38F515F}"/>
              </a:ext>
            </a:extLst>
          </p:cNvPr>
          <p:cNvSpPr txBox="1"/>
          <p:nvPr/>
        </p:nvSpPr>
        <p:spPr>
          <a:xfrm>
            <a:off x="983482" y="5335991"/>
            <a:ext cx="7851949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두 인원이 같은 날에 작업을 진행하면</a:t>
            </a:r>
            <a:b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이와 같이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커밋이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두 갈래로 나뉘게 되는데 </a:t>
            </a:r>
            <a:b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나누어 작업할 수 있는 기능을 </a:t>
            </a:r>
            <a:r>
              <a:rPr lang="ko-KR" altLang="en-US" dirty="0" err="1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(Branch)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라고 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C1D57DB-00FE-4D2D-847E-265C65BC3E81}"/>
              </a:ext>
            </a:extLst>
          </p:cNvPr>
          <p:cNvSpPr/>
          <p:nvPr/>
        </p:nvSpPr>
        <p:spPr>
          <a:xfrm>
            <a:off x="1718018" y="3954562"/>
            <a:ext cx="1187493" cy="1081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01.02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98DD6D3-DFCD-4DAA-BEA1-91E2F5F40F18}"/>
              </a:ext>
            </a:extLst>
          </p:cNvPr>
          <p:cNvSpPr/>
          <p:nvPr/>
        </p:nvSpPr>
        <p:spPr>
          <a:xfrm>
            <a:off x="3504225" y="3954562"/>
            <a:ext cx="1187494" cy="109144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01.03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84EAFC2-8FF8-445C-B89F-1AEED5F38AE0}"/>
              </a:ext>
            </a:extLst>
          </p:cNvPr>
          <p:cNvSpPr/>
          <p:nvPr/>
        </p:nvSpPr>
        <p:spPr>
          <a:xfrm>
            <a:off x="5290431" y="3964049"/>
            <a:ext cx="1187494" cy="10914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01.05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916D39D7-4DC3-4363-A784-D4E4EDCC2906}"/>
              </a:ext>
            </a:extLst>
          </p:cNvPr>
          <p:cNvSpPr/>
          <p:nvPr/>
        </p:nvSpPr>
        <p:spPr>
          <a:xfrm rot="10800000">
            <a:off x="3016043" y="4262796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5DFF865A-C10C-44C9-8FA7-F49C01933BE5}"/>
              </a:ext>
            </a:extLst>
          </p:cNvPr>
          <p:cNvSpPr/>
          <p:nvPr/>
        </p:nvSpPr>
        <p:spPr>
          <a:xfrm rot="10800000">
            <a:off x="4802250" y="4272283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52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A4A00D9-2CE9-40C2-B03B-ADB127363116}"/>
              </a:ext>
            </a:extLst>
          </p:cNvPr>
          <p:cNvSpPr/>
          <p:nvPr/>
        </p:nvSpPr>
        <p:spPr>
          <a:xfrm>
            <a:off x="1398777" y="2239070"/>
            <a:ext cx="2170444" cy="288387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CB0695-5854-4793-B1F2-019D95476EA3}"/>
              </a:ext>
            </a:extLst>
          </p:cNvPr>
          <p:cNvSpPr txBox="1"/>
          <p:nvPr/>
        </p:nvSpPr>
        <p:spPr>
          <a:xfrm>
            <a:off x="838200" y="1212112"/>
            <a:ext cx="105156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 제공하는 기본적인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브랜치는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이다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첫 번째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하면 자동으로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‘master’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라는 이름의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가리키게 만들어진다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C85725F-B768-43FD-95B0-15712A3A5A62}"/>
              </a:ext>
            </a:extLst>
          </p:cNvPr>
          <p:cNvSpPr/>
          <p:nvPr/>
        </p:nvSpPr>
        <p:spPr>
          <a:xfrm>
            <a:off x="1891147" y="2462646"/>
            <a:ext cx="1207590" cy="11595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01.02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17" name="설명선: 위쪽 화살표 16">
            <a:extLst>
              <a:ext uri="{FF2B5EF4-FFF2-40B4-BE49-F238E27FC236}">
                <a16:creationId xmlns:a16="http://schemas.microsoft.com/office/drawing/2014/main" id="{1DE18B24-F926-4D3C-AEAF-A631E599E010}"/>
              </a:ext>
            </a:extLst>
          </p:cNvPr>
          <p:cNvSpPr/>
          <p:nvPr/>
        </p:nvSpPr>
        <p:spPr>
          <a:xfrm>
            <a:off x="1633769" y="3664652"/>
            <a:ext cx="1704340" cy="1014882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A6ECD348-2F84-432F-A8DB-AD8C4D652075}"/>
              </a:ext>
            </a:extLst>
          </p:cNvPr>
          <p:cNvSpPr/>
          <p:nvPr/>
        </p:nvSpPr>
        <p:spPr>
          <a:xfrm>
            <a:off x="3991250" y="3209712"/>
            <a:ext cx="1720477" cy="90987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BF4204A-D60C-4574-A07D-9D1FA1F0CB2E}"/>
              </a:ext>
            </a:extLst>
          </p:cNvPr>
          <p:cNvSpPr/>
          <p:nvPr/>
        </p:nvSpPr>
        <p:spPr>
          <a:xfrm>
            <a:off x="5953610" y="2244094"/>
            <a:ext cx="4324141" cy="288387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A9772F0F-D8C9-45B7-B18A-2A210DDDA8F1}"/>
              </a:ext>
            </a:extLst>
          </p:cNvPr>
          <p:cNvSpPr/>
          <p:nvPr/>
        </p:nvSpPr>
        <p:spPr>
          <a:xfrm>
            <a:off x="6435038" y="2483748"/>
            <a:ext cx="1207590" cy="11595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01.02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34" name="설명선: 위쪽 화살표 33">
            <a:extLst>
              <a:ext uri="{FF2B5EF4-FFF2-40B4-BE49-F238E27FC236}">
                <a16:creationId xmlns:a16="http://schemas.microsoft.com/office/drawing/2014/main" id="{8D6A2342-A412-4036-AAD6-1CB25157162A}"/>
              </a:ext>
            </a:extLst>
          </p:cNvPr>
          <p:cNvSpPr/>
          <p:nvPr/>
        </p:nvSpPr>
        <p:spPr>
          <a:xfrm>
            <a:off x="8117564" y="3695537"/>
            <a:ext cx="1704340" cy="1014882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8814E98-47B1-4826-9A11-0CBCA0EB7D0B}"/>
              </a:ext>
            </a:extLst>
          </p:cNvPr>
          <p:cNvSpPr/>
          <p:nvPr/>
        </p:nvSpPr>
        <p:spPr>
          <a:xfrm>
            <a:off x="8365939" y="2483748"/>
            <a:ext cx="1207590" cy="11595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01.03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CC5917A7-71EB-46F0-B8A3-651AC96D56F6}"/>
              </a:ext>
            </a:extLst>
          </p:cNvPr>
          <p:cNvSpPr/>
          <p:nvPr/>
        </p:nvSpPr>
        <p:spPr>
          <a:xfrm rot="10800000">
            <a:off x="7877757" y="2791982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5D4022-EBAD-4E7A-AECE-05237D8527A2}"/>
              </a:ext>
            </a:extLst>
          </p:cNvPr>
          <p:cNvSpPr txBox="1"/>
          <p:nvPr/>
        </p:nvSpPr>
        <p:spPr>
          <a:xfrm>
            <a:off x="3991250" y="3479985"/>
            <a:ext cx="17204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새로운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추가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설명선: 위쪽 화살표 40">
            <a:extLst>
              <a:ext uri="{FF2B5EF4-FFF2-40B4-BE49-F238E27FC236}">
                <a16:creationId xmlns:a16="http://schemas.microsoft.com/office/drawing/2014/main" id="{D7AB7F3B-4B1D-45D8-B301-0A45D2990A71}"/>
              </a:ext>
            </a:extLst>
          </p:cNvPr>
          <p:cNvSpPr/>
          <p:nvPr/>
        </p:nvSpPr>
        <p:spPr>
          <a:xfrm rot="19197673">
            <a:off x="9425582" y="4648212"/>
            <a:ext cx="1704340" cy="1369627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새로 만든 </a:t>
            </a:r>
            <a:br>
              <a:rPr lang="en-US" altLang="ko-KR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커밋으로</a:t>
            </a:r>
            <a:r>
              <a:rPr lang="ko-KR" altLang="en-US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이동됨 </a:t>
            </a:r>
          </a:p>
        </p:txBody>
      </p:sp>
    </p:spTree>
    <p:extLst>
      <p:ext uri="{BB962C8B-B14F-4D97-AF65-F5344CB8AC3E}">
        <p14:creationId xmlns:p14="http://schemas.microsoft.com/office/powerpoint/2010/main" val="306276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에는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[HEAD]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라는 특수한 포인터가 있는데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[HEAD]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포인터가 가리키고 있는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작업한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상태를</a:t>
            </a:r>
            <a:b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보여준다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와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[HEAD]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포인터가 분리되어 있으면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분리된 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HEAD(Detached HEAD)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상태가 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8C75A6D-35B9-4EC9-A234-9AAE2D78A453}"/>
              </a:ext>
            </a:extLst>
          </p:cNvPr>
          <p:cNvSpPr/>
          <p:nvPr/>
        </p:nvSpPr>
        <p:spPr>
          <a:xfrm rot="19968440">
            <a:off x="7355088" y="3857453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2039E8A-791A-41AE-96F9-1075ADBC70F5}"/>
              </a:ext>
            </a:extLst>
          </p:cNvPr>
          <p:cNvSpPr/>
          <p:nvPr/>
        </p:nvSpPr>
        <p:spPr>
          <a:xfrm rot="1818627">
            <a:off x="7336667" y="4507898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68E2A2D-B591-4E25-B991-C5D637ECD2D9}"/>
              </a:ext>
            </a:extLst>
          </p:cNvPr>
          <p:cNvSpPr/>
          <p:nvPr/>
        </p:nvSpPr>
        <p:spPr>
          <a:xfrm>
            <a:off x="7833555" y="3106557"/>
            <a:ext cx="1266511" cy="123137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01.06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(A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수정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8BE0DD5-698E-45E6-A511-8BF1D8A7F424}"/>
              </a:ext>
            </a:extLst>
          </p:cNvPr>
          <p:cNvSpPr/>
          <p:nvPr/>
        </p:nvSpPr>
        <p:spPr>
          <a:xfrm>
            <a:off x="7822223" y="4456659"/>
            <a:ext cx="1266511" cy="123137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01.06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(B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수정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93621C3-CFDF-4420-B849-5F3CA2C827E3}"/>
              </a:ext>
            </a:extLst>
          </p:cNvPr>
          <p:cNvSpPr/>
          <p:nvPr/>
        </p:nvSpPr>
        <p:spPr>
          <a:xfrm>
            <a:off x="2462852" y="3786911"/>
            <a:ext cx="1187493" cy="1081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01.02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6059054-A565-4C8A-9C87-FA6E930F9453}"/>
              </a:ext>
            </a:extLst>
          </p:cNvPr>
          <p:cNvSpPr/>
          <p:nvPr/>
        </p:nvSpPr>
        <p:spPr>
          <a:xfrm>
            <a:off x="4249059" y="3786911"/>
            <a:ext cx="1187494" cy="109144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01.03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B3CE525-150E-4FF5-A005-3C8FC79BA3FA}"/>
              </a:ext>
            </a:extLst>
          </p:cNvPr>
          <p:cNvSpPr/>
          <p:nvPr/>
        </p:nvSpPr>
        <p:spPr>
          <a:xfrm>
            <a:off x="6035265" y="3796398"/>
            <a:ext cx="1187494" cy="10914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01.05</a:t>
            </a:r>
            <a:b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</a:b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8ED69E39-238B-4591-9276-7D01B23B2781}"/>
              </a:ext>
            </a:extLst>
          </p:cNvPr>
          <p:cNvSpPr/>
          <p:nvPr/>
        </p:nvSpPr>
        <p:spPr>
          <a:xfrm rot="10800000">
            <a:off x="3760877" y="4095145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A8CE7858-0248-42D3-A288-3CC528F7C663}"/>
              </a:ext>
            </a:extLst>
          </p:cNvPr>
          <p:cNvSpPr/>
          <p:nvPr/>
        </p:nvSpPr>
        <p:spPr>
          <a:xfrm rot="10800000">
            <a:off x="5547084" y="4104632"/>
            <a:ext cx="377650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9" name="설명선: 위쪽 화살표 38">
            <a:extLst>
              <a:ext uri="{FF2B5EF4-FFF2-40B4-BE49-F238E27FC236}">
                <a16:creationId xmlns:a16="http://schemas.microsoft.com/office/drawing/2014/main" id="{6FDD088A-17CF-467D-A1B1-01CAB3646729}"/>
              </a:ext>
            </a:extLst>
          </p:cNvPr>
          <p:cNvSpPr/>
          <p:nvPr/>
        </p:nvSpPr>
        <p:spPr>
          <a:xfrm>
            <a:off x="7641440" y="5501901"/>
            <a:ext cx="1650739" cy="807048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0" name="설명선: 위쪽 화살표 39">
            <a:extLst>
              <a:ext uri="{FF2B5EF4-FFF2-40B4-BE49-F238E27FC236}">
                <a16:creationId xmlns:a16="http://schemas.microsoft.com/office/drawing/2014/main" id="{B8B263AE-272D-4EC6-A8FD-6D8F8147D041}"/>
              </a:ext>
            </a:extLst>
          </p:cNvPr>
          <p:cNvSpPr/>
          <p:nvPr/>
        </p:nvSpPr>
        <p:spPr>
          <a:xfrm rot="10800000">
            <a:off x="7641440" y="2530656"/>
            <a:ext cx="1650739" cy="807048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DB915-6A1F-4A86-B20C-976E264D64C9}"/>
              </a:ext>
            </a:extLst>
          </p:cNvPr>
          <p:cNvSpPr txBox="1"/>
          <p:nvPr/>
        </p:nvSpPr>
        <p:spPr>
          <a:xfrm>
            <a:off x="7641440" y="2596969"/>
            <a:ext cx="1650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A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설명선: 위쪽 화살표 40">
            <a:extLst>
              <a:ext uri="{FF2B5EF4-FFF2-40B4-BE49-F238E27FC236}">
                <a16:creationId xmlns:a16="http://schemas.microsoft.com/office/drawing/2014/main" id="{A966DC78-DD97-45C3-B2E5-54F44EC07A8A}"/>
              </a:ext>
            </a:extLst>
          </p:cNvPr>
          <p:cNvSpPr/>
          <p:nvPr/>
        </p:nvSpPr>
        <p:spPr>
          <a:xfrm>
            <a:off x="4435395" y="4878357"/>
            <a:ext cx="814821" cy="757145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HEAD</a:t>
            </a:r>
            <a:endParaRPr lang="ko-KR" altLang="en-US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19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</a:t>
            </a:r>
            <a:r>
              <a:rPr lang="ko-KR" altLang="en-US" dirty="0"/>
              <a:t> 실습 기본 </a:t>
            </a:r>
            <a:r>
              <a:rPr lang="en-US" altLang="ko-KR" dirty="0"/>
              <a:t>: </a:t>
            </a:r>
            <a:r>
              <a:rPr lang="ko-KR" altLang="en-US" dirty="0"/>
              <a:t>만들고</a:t>
            </a:r>
            <a:r>
              <a:rPr lang="en-US" altLang="ko-KR" dirty="0"/>
              <a:t>, </a:t>
            </a:r>
            <a:r>
              <a:rPr lang="ko-KR" altLang="en-US" dirty="0"/>
              <a:t>이동한다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7846D6-8143-4789-9E1E-03EBE00F3925}"/>
              </a:ext>
            </a:extLst>
          </p:cNvPr>
          <p:cNvSpPr txBox="1"/>
          <p:nvPr/>
        </p:nvSpPr>
        <p:spPr>
          <a:xfrm>
            <a:off x="838200" y="1212112"/>
            <a:ext cx="105156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만들 때 주의 사항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브랜치에는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직접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올리지 않는다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동시에 작업하다 꼬일 수 있으니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기능 개발을 하기 전에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브랜치를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기준으로 새로운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브랜치를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만든다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이름은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기능이름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]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형식으로 하고 한 명만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올린다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기능이름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브랜치에서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기능 개발이 끝나면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이를 합친다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622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생성 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97013B9-9A26-471E-8534-9585F32CA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76" y="2065729"/>
            <a:ext cx="4674260" cy="3382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4994358-1D80-47BF-9280-C38A95F2C102}"/>
              </a:ext>
            </a:extLst>
          </p:cNvPr>
          <p:cNvSpPr/>
          <p:nvPr/>
        </p:nvSpPr>
        <p:spPr>
          <a:xfrm>
            <a:off x="5796448" y="3421207"/>
            <a:ext cx="592853" cy="683288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6C6DE05-080A-47B1-B093-84AB1E95C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814" y="2065729"/>
            <a:ext cx="4674260" cy="339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8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 Visual Studio Code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만들기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352952-466C-4EE9-BC7D-E438AC606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997" y="1688454"/>
            <a:ext cx="5030665" cy="4029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0E66D0-127A-4110-9327-86603C818326}"/>
              </a:ext>
            </a:extLst>
          </p:cNvPr>
          <p:cNvSpPr txBox="1"/>
          <p:nvPr/>
        </p:nvSpPr>
        <p:spPr>
          <a:xfrm>
            <a:off x="6182459" y="1688454"/>
            <a:ext cx="503066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이름을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‘detail-page.md’ 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만든 다음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내용은 디테일 페이지 로 저장한다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저장위치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ITSHIRT-CAT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폴더에 저장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9070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메시지 추가 및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‘detail-page.md’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5EE4F6-5154-464E-BA39-870FCF14F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12" y="1969355"/>
            <a:ext cx="4898972" cy="4099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F2A12E-E02F-413B-A74C-BA52AAEF3AE1}"/>
              </a:ext>
            </a:extLst>
          </p:cNvPr>
          <p:cNvSpPr txBox="1"/>
          <p:nvPr/>
        </p:nvSpPr>
        <p:spPr>
          <a:xfrm>
            <a:off x="6090923" y="1969355"/>
            <a:ext cx="503066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누른 이후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Detail-page.md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우측에 있는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+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눌러서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스테이지에 올린 후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메시지로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“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디테일 페이지 추가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”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입력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078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4.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메시지 추가 및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‘detail-page.md’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B034EB-D8C3-48E7-A836-001B892AB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770" y="1785129"/>
            <a:ext cx="6154459" cy="42060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127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5.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내용 추가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수정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)[feature-list.md]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EC3B9E-8BA7-4D6E-B955-AE1DEA1A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7" y="2163909"/>
            <a:ext cx="7096125" cy="3609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3482709-E1A0-4694-A9DE-4EAAA6ED3FA6}"/>
              </a:ext>
            </a:extLst>
          </p:cNvPr>
          <p:cNvSpPr/>
          <p:nvPr/>
        </p:nvSpPr>
        <p:spPr>
          <a:xfrm>
            <a:off x="5993684" y="3495466"/>
            <a:ext cx="1858945" cy="221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1739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6.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메시지 추가 및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‘feature-list.md’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181182-6CE9-452C-A4FD-DBDA70F4E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564" y="1799980"/>
            <a:ext cx="6666872" cy="433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41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3C2B-4F65-4A98-994D-18BD0535B8A4}"/>
              </a:ext>
            </a:extLst>
          </p:cNvPr>
          <p:cNvSpPr txBox="1"/>
          <p:nvPr/>
        </p:nvSpPr>
        <p:spPr>
          <a:xfrm>
            <a:off x="838200" y="1212112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7.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에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[feature/detail-page]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추가한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확인하기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1BE0F9-30CD-47BC-A193-3C78D899F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47" y="1673639"/>
            <a:ext cx="3181350" cy="43624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9AA7503-C390-4198-BE07-7C70004EB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095" y="1673639"/>
            <a:ext cx="6283459" cy="4362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1ECF80B-1FA4-4B78-A68D-5F53A37FB526}"/>
              </a:ext>
            </a:extLst>
          </p:cNvPr>
          <p:cNvSpPr/>
          <p:nvPr/>
        </p:nvSpPr>
        <p:spPr>
          <a:xfrm>
            <a:off x="4262641" y="3559573"/>
            <a:ext cx="572960" cy="522515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463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이동하기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체크아웃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(checkout)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체크 아웃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(Check out) : </a:t>
            </a:r>
            <a:r>
              <a:rPr lang="ko-KR" altLang="en-US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브랜치를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이동하는 명령어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8F3FC6-E4D2-4AF2-B1F6-719A3CA2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04" y="2006862"/>
            <a:ext cx="4688027" cy="4266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76ECDA-88BD-4898-84CD-ED9D4D133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024" y="2959995"/>
            <a:ext cx="4343243" cy="1638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473E636-7926-4B69-92DB-F7C1729C4633}"/>
              </a:ext>
            </a:extLst>
          </p:cNvPr>
          <p:cNvSpPr/>
          <p:nvPr/>
        </p:nvSpPr>
        <p:spPr>
          <a:xfrm>
            <a:off x="5791696" y="3479144"/>
            <a:ext cx="532563" cy="600389"/>
          </a:xfrm>
          <a:prstGeom prst="rightArrow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323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 [feature-list.md] 3. ‘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장바구니 담기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추가하기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D117F3-B777-45A9-BEFD-B2FBD588C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6" y="4436130"/>
            <a:ext cx="5267325" cy="1143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6B66DE8-5038-44CB-A794-D780E5DFC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238" y="1653882"/>
            <a:ext cx="4507523" cy="221887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4F0B4F-4503-4742-A7A3-F7DA11E7AEE0}"/>
              </a:ext>
            </a:extLst>
          </p:cNvPr>
          <p:cNvSpPr/>
          <p:nvPr/>
        </p:nvSpPr>
        <p:spPr>
          <a:xfrm>
            <a:off x="4622242" y="2642739"/>
            <a:ext cx="823965" cy="120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1677B-7EA9-4D6B-85A8-90C3C71D19F4}"/>
              </a:ext>
            </a:extLst>
          </p:cNvPr>
          <p:cNvSpPr txBox="1"/>
          <p:nvPr/>
        </p:nvSpPr>
        <p:spPr>
          <a:xfrm>
            <a:off x="968828" y="3974734"/>
            <a:ext cx="500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[Cart.md] 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장바구니 담기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내용 추가 후 파일 만들기</a:t>
            </a:r>
          </a:p>
        </p:txBody>
      </p:sp>
    </p:spTree>
    <p:extLst>
      <p:ext uri="{BB962C8B-B14F-4D97-AF65-F5344CB8AC3E}">
        <p14:creationId xmlns:p14="http://schemas.microsoft.com/office/powerpoint/2010/main" val="254815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/>
              <a:t>  [feature-list.md], [cart.md] </a:t>
            </a:r>
            <a:r>
              <a:rPr lang="ko-KR" altLang="en-US" sz="1800" dirty="0"/>
              <a:t>파일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메시지 및 파일 올리기</a:t>
            </a:r>
            <a:endParaRPr lang="en-US" altLang="ko-KR" sz="18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CCED003-2354-4093-AF1B-2EF2DE3BF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061" y="1856012"/>
            <a:ext cx="6037877" cy="41953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352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/>
              <a:t>  [feature-list.md], [cart.md]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올린 결과 사진</a:t>
            </a: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22FEDE-4830-4186-882F-A27B5466A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002" y="1694573"/>
            <a:ext cx="6421995" cy="44622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9834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원격저장소에서 협업하기 </a:t>
            </a:r>
            <a:r>
              <a:rPr lang="en-US" altLang="ko-KR" dirty="0"/>
              <a:t>: </a:t>
            </a:r>
            <a:r>
              <a:rPr lang="ko-KR" altLang="en-US" dirty="0" err="1"/>
              <a:t>브랜치</a:t>
            </a:r>
            <a:r>
              <a:rPr lang="en-US" altLang="ko-KR" dirty="0"/>
              <a:t>(Branch)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지금까지 실습 과정 상태도 </a:t>
            </a:r>
            <a:endParaRPr lang="en-US" altLang="ko-KR" sz="18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4B564B6-3012-4A53-88C8-C7E6A6D6279A}"/>
              </a:ext>
            </a:extLst>
          </p:cNvPr>
          <p:cNvSpPr/>
          <p:nvPr/>
        </p:nvSpPr>
        <p:spPr>
          <a:xfrm>
            <a:off x="1901161" y="3883408"/>
            <a:ext cx="1187493" cy="1081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C65650B-DCAB-432E-A8B6-DAC04A4AA354}"/>
              </a:ext>
            </a:extLst>
          </p:cNvPr>
          <p:cNvSpPr/>
          <p:nvPr/>
        </p:nvSpPr>
        <p:spPr>
          <a:xfrm>
            <a:off x="4148947" y="3883408"/>
            <a:ext cx="1187494" cy="109144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B7BC613-B373-414C-BC17-EEF421BDF48A}"/>
              </a:ext>
            </a:extLst>
          </p:cNvPr>
          <p:cNvSpPr/>
          <p:nvPr/>
        </p:nvSpPr>
        <p:spPr>
          <a:xfrm>
            <a:off x="6159206" y="2444829"/>
            <a:ext cx="1187494" cy="10914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C55B913-F9C0-4E25-A275-F67B6F504158}"/>
              </a:ext>
            </a:extLst>
          </p:cNvPr>
          <p:cNvSpPr/>
          <p:nvPr/>
        </p:nvSpPr>
        <p:spPr>
          <a:xfrm rot="10800000">
            <a:off x="3344323" y="4158104"/>
            <a:ext cx="54895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A3F6C08-08A8-4487-B6E9-7839B2B5D8B3}"/>
              </a:ext>
            </a:extLst>
          </p:cNvPr>
          <p:cNvSpPr/>
          <p:nvPr/>
        </p:nvSpPr>
        <p:spPr>
          <a:xfrm rot="8312929">
            <a:off x="5292543" y="3402382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3987BE71-CFAC-4456-88BB-0630DD592D8D}"/>
              </a:ext>
            </a:extLst>
          </p:cNvPr>
          <p:cNvSpPr/>
          <p:nvPr/>
        </p:nvSpPr>
        <p:spPr>
          <a:xfrm rot="10800000">
            <a:off x="7786209" y="2724269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793208-86D6-4F78-B579-4A769B50135A}"/>
              </a:ext>
            </a:extLst>
          </p:cNvPr>
          <p:cNvSpPr/>
          <p:nvPr/>
        </p:nvSpPr>
        <p:spPr>
          <a:xfrm>
            <a:off x="8824851" y="2439434"/>
            <a:ext cx="1187494" cy="10914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58D8323-E849-4EDE-9D69-9946DF9F324E}"/>
              </a:ext>
            </a:extLst>
          </p:cNvPr>
          <p:cNvSpPr/>
          <p:nvPr/>
        </p:nvSpPr>
        <p:spPr>
          <a:xfrm rot="10800000">
            <a:off x="5592108" y="4158103"/>
            <a:ext cx="27932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5EED4EF-AD81-42DC-9E72-E35B42CBA385}"/>
              </a:ext>
            </a:extLst>
          </p:cNvPr>
          <p:cNvSpPr/>
          <p:nvPr/>
        </p:nvSpPr>
        <p:spPr>
          <a:xfrm>
            <a:off x="8824851" y="3883409"/>
            <a:ext cx="1187494" cy="10914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" name="설명선: 위쪽 화살표 5">
            <a:extLst>
              <a:ext uri="{FF2B5EF4-FFF2-40B4-BE49-F238E27FC236}">
                <a16:creationId xmlns:a16="http://schemas.microsoft.com/office/drawing/2014/main" id="{DADC78DA-126F-4B3B-AFFB-913A3C606AA0}"/>
              </a:ext>
            </a:extLst>
          </p:cNvPr>
          <p:cNvSpPr/>
          <p:nvPr/>
        </p:nvSpPr>
        <p:spPr>
          <a:xfrm>
            <a:off x="3866356" y="5019028"/>
            <a:ext cx="1752676" cy="1106187"/>
          </a:xfrm>
          <a:prstGeom prst="up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설명선: 위쪽 화살표 18">
            <a:extLst>
              <a:ext uri="{FF2B5EF4-FFF2-40B4-BE49-F238E27FC236}">
                <a16:creationId xmlns:a16="http://schemas.microsoft.com/office/drawing/2014/main" id="{7138F95F-914F-416A-B92A-FE7A92B72AB2}"/>
              </a:ext>
            </a:extLst>
          </p:cNvPr>
          <p:cNvSpPr/>
          <p:nvPr/>
        </p:nvSpPr>
        <p:spPr>
          <a:xfrm>
            <a:off x="8542260" y="5019028"/>
            <a:ext cx="1752676" cy="1106187"/>
          </a:xfrm>
          <a:prstGeom prst="up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</a:p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(HEAD)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1" name="설명선: 아래쪽 화살표 20">
            <a:extLst>
              <a:ext uri="{FF2B5EF4-FFF2-40B4-BE49-F238E27FC236}">
                <a16:creationId xmlns:a16="http://schemas.microsoft.com/office/drawing/2014/main" id="{3F3E715C-63B7-4E01-ABB6-9CBD6F226DD2}"/>
              </a:ext>
            </a:extLst>
          </p:cNvPr>
          <p:cNvSpPr/>
          <p:nvPr/>
        </p:nvSpPr>
        <p:spPr>
          <a:xfrm>
            <a:off x="8542260" y="1284113"/>
            <a:ext cx="1752676" cy="1091445"/>
          </a:xfrm>
          <a:prstGeom prst="down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Fearture</a:t>
            </a:r>
            <a:r>
              <a:rPr lang="en-US" altLang="ko-KR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/detail-page </a:t>
            </a:r>
            <a:r>
              <a:rPr lang="ko-KR" altLang="en-US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1233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병합에 대한 종류</a:t>
            </a: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병합 </a:t>
            </a:r>
            <a:r>
              <a:rPr lang="ko-KR" altLang="en-US" sz="2000" dirty="0" err="1"/>
              <a:t>커밋</a:t>
            </a:r>
            <a:r>
              <a:rPr lang="en-US" altLang="ko-KR" sz="2000" dirty="0"/>
              <a:t>(Merge Commit)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서로 다른 </a:t>
            </a:r>
            <a:r>
              <a:rPr lang="ko-KR" altLang="en-US" sz="2000" dirty="0" err="1"/>
              <a:t>커밋끼리</a:t>
            </a:r>
            <a:r>
              <a:rPr lang="ko-KR" altLang="en-US" sz="2000" dirty="0"/>
              <a:t> 합치면 서로 </a:t>
            </a:r>
            <a:r>
              <a:rPr lang="ko-KR" altLang="en-US" sz="2000" dirty="0" err="1"/>
              <a:t>다른점을</a:t>
            </a:r>
            <a:r>
              <a:rPr lang="ko-KR" altLang="en-US" sz="2000" dirty="0"/>
              <a:t> 합친 </a:t>
            </a:r>
            <a:r>
              <a:rPr lang="ko-KR" altLang="en-US" sz="2000" dirty="0" err="1"/>
              <a:t>커밋을</a:t>
            </a:r>
            <a:r>
              <a:rPr lang="ko-KR" altLang="en-US" sz="2000" dirty="0"/>
              <a:t> </a:t>
            </a:r>
            <a:r>
              <a:rPr lang="en-US" altLang="ko-KR" sz="2000" dirty="0"/>
              <a:t>‘</a:t>
            </a:r>
            <a:r>
              <a:rPr lang="ko-KR" altLang="en-US" sz="2000" dirty="0"/>
              <a:t>병합 </a:t>
            </a:r>
            <a:r>
              <a:rPr lang="ko-KR" altLang="en-US" sz="2000" dirty="0" err="1"/>
              <a:t>커밋</a:t>
            </a:r>
            <a:r>
              <a:rPr lang="en-US" altLang="ko-KR" sz="2000" dirty="0"/>
              <a:t>’ </a:t>
            </a:r>
            <a:r>
              <a:rPr lang="ko-KR" altLang="en-US" sz="2000" dirty="0"/>
              <a:t>이라고 한다</a:t>
            </a:r>
            <a:r>
              <a:rPr lang="en-US" altLang="ko-KR" sz="20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빨리 감기</a:t>
            </a:r>
            <a:r>
              <a:rPr lang="en-US" altLang="ko-KR" sz="2000" dirty="0"/>
              <a:t>(Fast-forward)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기존 </a:t>
            </a:r>
            <a:r>
              <a:rPr lang="ko-KR" altLang="en-US" sz="2000" dirty="0" err="1"/>
              <a:t>커밋에서</a:t>
            </a:r>
            <a:r>
              <a:rPr lang="ko-KR" altLang="en-US" sz="2000" dirty="0"/>
              <a:t> 새로 추가되는 부분을 합친 </a:t>
            </a:r>
            <a:r>
              <a:rPr lang="ko-KR" altLang="en-US" sz="2000" dirty="0" err="1"/>
              <a:t>커밋을</a:t>
            </a:r>
            <a:r>
              <a:rPr lang="ko-KR" altLang="en-US" sz="2000" dirty="0"/>
              <a:t> </a:t>
            </a:r>
            <a:r>
              <a:rPr lang="en-US" altLang="ko-KR" sz="2000" dirty="0"/>
              <a:t>‘</a:t>
            </a:r>
            <a:r>
              <a:rPr lang="ko-KR" altLang="en-US" sz="2000" dirty="0"/>
              <a:t>빨리 감기 병합</a:t>
            </a:r>
            <a:r>
              <a:rPr lang="en-US" altLang="ko-KR" sz="2000" dirty="0"/>
              <a:t>’ </a:t>
            </a:r>
            <a:r>
              <a:rPr lang="ko-KR" altLang="en-US" sz="2000" dirty="0"/>
              <a:t>이라고 한다</a:t>
            </a:r>
            <a:r>
              <a:rPr lang="en-US" altLang="ko-KR" sz="20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충돌</a:t>
            </a:r>
            <a:r>
              <a:rPr lang="en-US" altLang="ko-KR" sz="1800" dirty="0"/>
              <a:t>(Conflict)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기존에 있던 </a:t>
            </a:r>
            <a:r>
              <a:rPr lang="ko-KR" altLang="en-US" sz="1800" dirty="0" err="1"/>
              <a:t>커밋과</a:t>
            </a:r>
            <a:r>
              <a:rPr lang="ko-KR" altLang="en-US" sz="1800" dirty="0"/>
              <a:t> 새로 만든 </a:t>
            </a:r>
            <a:r>
              <a:rPr lang="ko-KR" altLang="en-US" sz="1800" dirty="0" err="1"/>
              <a:t>커밋이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비젼</a:t>
            </a:r>
            <a:r>
              <a:rPr lang="ko-KR" altLang="en-US" sz="1800" dirty="0"/>
              <a:t> 제어가 겹치는 상황을 </a:t>
            </a:r>
            <a:r>
              <a:rPr lang="en-US" altLang="ko-KR" sz="1800" dirty="0"/>
              <a:t>‘</a:t>
            </a:r>
            <a:r>
              <a:rPr lang="ko-KR" altLang="en-US" sz="1800" dirty="0"/>
              <a:t>충돌</a:t>
            </a:r>
            <a:r>
              <a:rPr lang="en-US" altLang="ko-KR" sz="1800" dirty="0"/>
              <a:t>’ </a:t>
            </a:r>
            <a:r>
              <a:rPr lang="ko-KR" altLang="en-US" sz="1800" dirty="0"/>
              <a:t>이라고 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7736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B9F1CF-FF6C-485A-AD20-E2E6E3D5E91D}"/>
              </a:ext>
            </a:extLst>
          </p:cNvPr>
          <p:cNvSpPr/>
          <p:nvPr/>
        </p:nvSpPr>
        <p:spPr>
          <a:xfrm>
            <a:off x="1806023" y="2390775"/>
            <a:ext cx="7696200" cy="3733800"/>
          </a:xfrm>
          <a:prstGeom prst="roundRect">
            <a:avLst>
              <a:gd name="adj" fmla="val 467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두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합치는 과정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/>
              <a:t>Git</a:t>
            </a:r>
            <a:r>
              <a:rPr lang="ko-KR" altLang="en-US" sz="1800" dirty="0"/>
              <a:t>에서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합치는 명령어를 </a:t>
            </a:r>
            <a:r>
              <a:rPr lang="ko-KR" altLang="en-US" sz="1800" dirty="0" err="1"/>
              <a:t>머지</a:t>
            </a:r>
            <a:r>
              <a:rPr lang="en-US" altLang="ko-KR" sz="1800" dirty="0"/>
              <a:t>(Merge)</a:t>
            </a:r>
            <a:r>
              <a:rPr lang="ko-KR" altLang="en-US" sz="1800" dirty="0"/>
              <a:t>라고 한다</a:t>
            </a:r>
            <a:r>
              <a:rPr lang="en-US" altLang="ko-KR" sz="18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설명 예제 상태도 설명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27A224-40AB-44DB-A4D8-AE465569D457}"/>
              </a:ext>
            </a:extLst>
          </p:cNvPr>
          <p:cNvSpPr/>
          <p:nvPr/>
        </p:nvSpPr>
        <p:spPr>
          <a:xfrm>
            <a:off x="2433249" y="3914894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4EC741B-82CF-4D2A-945B-4C02D5E03FB3}"/>
              </a:ext>
            </a:extLst>
          </p:cNvPr>
          <p:cNvSpPr/>
          <p:nvPr/>
        </p:nvSpPr>
        <p:spPr>
          <a:xfrm rot="10800000">
            <a:off x="3521156" y="4120841"/>
            <a:ext cx="54895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703B79A-47A0-4B0B-81CC-D4C686E4225B}"/>
              </a:ext>
            </a:extLst>
          </p:cNvPr>
          <p:cNvSpPr/>
          <p:nvPr/>
        </p:nvSpPr>
        <p:spPr>
          <a:xfrm rot="8535430">
            <a:off x="5116126" y="3561841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E0A08A1-804C-4D31-B2F7-70722FA29436}"/>
              </a:ext>
            </a:extLst>
          </p:cNvPr>
          <p:cNvSpPr/>
          <p:nvPr/>
        </p:nvSpPr>
        <p:spPr>
          <a:xfrm rot="10800000">
            <a:off x="6935707" y="3263847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021572F6-5E83-4E58-BD36-DD122FDCF9A1}"/>
              </a:ext>
            </a:extLst>
          </p:cNvPr>
          <p:cNvSpPr/>
          <p:nvPr/>
        </p:nvSpPr>
        <p:spPr>
          <a:xfrm rot="10800000">
            <a:off x="5242275" y="4328098"/>
            <a:ext cx="229256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7" name="설명선: 위쪽 화살표 36">
            <a:extLst>
              <a:ext uri="{FF2B5EF4-FFF2-40B4-BE49-F238E27FC236}">
                <a16:creationId xmlns:a16="http://schemas.microsoft.com/office/drawing/2014/main" id="{68E8BC73-35CE-44F5-9925-88573D990627}"/>
              </a:ext>
            </a:extLst>
          </p:cNvPr>
          <p:cNvSpPr/>
          <p:nvPr/>
        </p:nvSpPr>
        <p:spPr>
          <a:xfrm>
            <a:off x="3975000" y="4947029"/>
            <a:ext cx="1362385" cy="806071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설명선: 위쪽 화살표 37">
            <a:extLst>
              <a:ext uri="{FF2B5EF4-FFF2-40B4-BE49-F238E27FC236}">
                <a16:creationId xmlns:a16="http://schemas.microsoft.com/office/drawing/2014/main" id="{0954754A-5D6C-42B4-B327-3A27B497F146}"/>
              </a:ext>
            </a:extLst>
          </p:cNvPr>
          <p:cNvSpPr/>
          <p:nvPr/>
        </p:nvSpPr>
        <p:spPr>
          <a:xfrm>
            <a:off x="7471953" y="5037938"/>
            <a:ext cx="1362385" cy="886472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</a:p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9598C37-D881-4815-BD3B-82B9FA82B936}"/>
              </a:ext>
            </a:extLst>
          </p:cNvPr>
          <p:cNvSpPr/>
          <p:nvPr/>
        </p:nvSpPr>
        <p:spPr>
          <a:xfrm>
            <a:off x="4154368" y="3895224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799B6E1-4F4A-4869-B570-80DDCDC30A34}"/>
              </a:ext>
            </a:extLst>
          </p:cNvPr>
          <p:cNvSpPr/>
          <p:nvPr/>
        </p:nvSpPr>
        <p:spPr>
          <a:xfrm>
            <a:off x="5847904" y="2996094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E454D86-EBE7-41E8-A128-597ABC242636}"/>
              </a:ext>
            </a:extLst>
          </p:cNvPr>
          <p:cNvSpPr/>
          <p:nvPr/>
        </p:nvSpPr>
        <p:spPr>
          <a:xfrm>
            <a:off x="7648514" y="3003363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CFCAC26-0DEE-465F-A6C5-4C9BE6AA6E84}"/>
              </a:ext>
            </a:extLst>
          </p:cNvPr>
          <p:cNvSpPr/>
          <p:nvPr/>
        </p:nvSpPr>
        <p:spPr>
          <a:xfrm>
            <a:off x="7651321" y="4081973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E59966A-C3F9-4505-8D26-568B3F5E8BAD}"/>
              </a:ext>
            </a:extLst>
          </p:cNvPr>
          <p:cNvSpPr/>
          <p:nvPr/>
        </p:nvSpPr>
        <p:spPr>
          <a:xfrm>
            <a:off x="1806022" y="2395445"/>
            <a:ext cx="6499777" cy="331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feature/detail-page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브랜치를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합치기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(Before)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8" name="설명선: 왼쪽 화살표 7">
            <a:extLst>
              <a:ext uri="{FF2B5EF4-FFF2-40B4-BE49-F238E27FC236}">
                <a16:creationId xmlns:a16="http://schemas.microsoft.com/office/drawing/2014/main" id="{A83BF181-D838-4243-99C0-27D0CDB4716E}"/>
              </a:ext>
            </a:extLst>
          </p:cNvPr>
          <p:cNvSpPr/>
          <p:nvPr/>
        </p:nvSpPr>
        <p:spPr>
          <a:xfrm>
            <a:off x="8706796" y="3173377"/>
            <a:ext cx="2018354" cy="591199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7701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Feature/detail-page </a:t>
            </a:r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3687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B9F1CF-FF6C-485A-AD20-E2E6E3D5E91D}"/>
              </a:ext>
            </a:extLst>
          </p:cNvPr>
          <p:cNvSpPr/>
          <p:nvPr/>
        </p:nvSpPr>
        <p:spPr>
          <a:xfrm>
            <a:off x="1690687" y="1419225"/>
            <a:ext cx="8810625" cy="4572000"/>
          </a:xfrm>
          <a:prstGeom prst="roundRect">
            <a:avLst>
              <a:gd name="adj" fmla="val 60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27A224-40AB-44DB-A4D8-AE465569D457}"/>
              </a:ext>
            </a:extLst>
          </p:cNvPr>
          <p:cNvSpPr/>
          <p:nvPr/>
        </p:nvSpPr>
        <p:spPr>
          <a:xfrm>
            <a:off x="1992585" y="3750416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4EC741B-82CF-4D2A-945B-4C02D5E03FB3}"/>
              </a:ext>
            </a:extLst>
          </p:cNvPr>
          <p:cNvSpPr/>
          <p:nvPr/>
        </p:nvSpPr>
        <p:spPr>
          <a:xfrm rot="10800000">
            <a:off x="3080492" y="3956363"/>
            <a:ext cx="54895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703B79A-47A0-4B0B-81CC-D4C686E4225B}"/>
              </a:ext>
            </a:extLst>
          </p:cNvPr>
          <p:cNvSpPr/>
          <p:nvPr/>
        </p:nvSpPr>
        <p:spPr>
          <a:xfrm rot="8535430">
            <a:off x="4675462" y="3397363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E0A08A1-804C-4D31-B2F7-70722FA29436}"/>
              </a:ext>
            </a:extLst>
          </p:cNvPr>
          <p:cNvSpPr/>
          <p:nvPr/>
        </p:nvSpPr>
        <p:spPr>
          <a:xfrm rot="10800000">
            <a:off x="6495043" y="3099369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021572F6-5E83-4E58-BD36-DD122FDCF9A1}"/>
              </a:ext>
            </a:extLst>
          </p:cNvPr>
          <p:cNvSpPr/>
          <p:nvPr/>
        </p:nvSpPr>
        <p:spPr>
          <a:xfrm rot="10800000">
            <a:off x="4801611" y="4163620"/>
            <a:ext cx="229256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설명선: 위쪽 화살표 37">
            <a:extLst>
              <a:ext uri="{FF2B5EF4-FFF2-40B4-BE49-F238E27FC236}">
                <a16:creationId xmlns:a16="http://schemas.microsoft.com/office/drawing/2014/main" id="{0954754A-5D6C-42B4-B327-3A27B497F146}"/>
              </a:ext>
            </a:extLst>
          </p:cNvPr>
          <p:cNvSpPr/>
          <p:nvPr/>
        </p:nvSpPr>
        <p:spPr>
          <a:xfrm>
            <a:off x="7045142" y="4903296"/>
            <a:ext cx="1362385" cy="886472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</a:p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9598C37-D881-4815-BD3B-82B9FA82B936}"/>
              </a:ext>
            </a:extLst>
          </p:cNvPr>
          <p:cNvSpPr/>
          <p:nvPr/>
        </p:nvSpPr>
        <p:spPr>
          <a:xfrm>
            <a:off x="3713704" y="3730746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799B6E1-4F4A-4869-B570-80DDCDC30A34}"/>
              </a:ext>
            </a:extLst>
          </p:cNvPr>
          <p:cNvSpPr/>
          <p:nvPr/>
        </p:nvSpPr>
        <p:spPr>
          <a:xfrm>
            <a:off x="5407240" y="2831616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E454D86-EBE7-41E8-A128-597ABC242636}"/>
              </a:ext>
            </a:extLst>
          </p:cNvPr>
          <p:cNvSpPr/>
          <p:nvPr/>
        </p:nvSpPr>
        <p:spPr>
          <a:xfrm>
            <a:off x="7207850" y="2838885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CFCAC26-0DEE-465F-A6C5-4C9BE6AA6E84}"/>
              </a:ext>
            </a:extLst>
          </p:cNvPr>
          <p:cNvSpPr/>
          <p:nvPr/>
        </p:nvSpPr>
        <p:spPr>
          <a:xfrm>
            <a:off x="7210657" y="3917495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E59966A-C3F9-4505-8D26-568B3F5E8BAD}"/>
              </a:ext>
            </a:extLst>
          </p:cNvPr>
          <p:cNvSpPr/>
          <p:nvPr/>
        </p:nvSpPr>
        <p:spPr>
          <a:xfrm>
            <a:off x="1690686" y="1405023"/>
            <a:ext cx="6466177" cy="331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feature/detail-page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브랜치를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합치기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(After)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8" name="설명선: 왼쪽 화살표 7">
            <a:extLst>
              <a:ext uri="{FF2B5EF4-FFF2-40B4-BE49-F238E27FC236}">
                <a16:creationId xmlns:a16="http://schemas.microsoft.com/office/drawing/2014/main" id="{A83BF181-D838-4243-99C0-27D0CDB4716E}"/>
              </a:ext>
            </a:extLst>
          </p:cNvPr>
          <p:cNvSpPr/>
          <p:nvPr/>
        </p:nvSpPr>
        <p:spPr>
          <a:xfrm>
            <a:off x="8266132" y="3008899"/>
            <a:ext cx="2018354" cy="591199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7701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Feature/detail-page </a:t>
            </a:r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설명선: 아래쪽 화살표 3">
            <a:extLst>
              <a:ext uri="{FF2B5EF4-FFF2-40B4-BE49-F238E27FC236}">
                <a16:creationId xmlns:a16="http://schemas.microsoft.com/office/drawing/2014/main" id="{3F8BC979-142C-4220-8940-2F3BEB800AD5}"/>
              </a:ext>
            </a:extLst>
          </p:cNvPr>
          <p:cNvSpPr/>
          <p:nvPr/>
        </p:nvSpPr>
        <p:spPr>
          <a:xfrm>
            <a:off x="7028482" y="1938066"/>
            <a:ext cx="1362385" cy="796178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sz="1400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A49D353-7AB5-4850-B80A-55A0BDBA240D}"/>
              </a:ext>
            </a:extLst>
          </p:cNvPr>
          <p:cNvSpPr/>
          <p:nvPr/>
        </p:nvSpPr>
        <p:spPr>
          <a:xfrm>
            <a:off x="1690686" y="5553075"/>
            <a:ext cx="3110924" cy="438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 방식 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빨리 감기 병합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3227963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B9F1CF-FF6C-485A-AD20-E2E6E3D5E91D}"/>
              </a:ext>
            </a:extLst>
          </p:cNvPr>
          <p:cNvSpPr/>
          <p:nvPr/>
        </p:nvSpPr>
        <p:spPr>
          <a:xfrm>
            <a:off x="1690687" y="1419225"/>
            <a:ext cx="8810625" cy="4572000"/>
          </a:xfrm>
          <a:prstGeom prst="roundRect">
            <a:avLst>
              <a:gd name="adj" fmla="val 60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27A224-40AB-44DB-A4D8-AE465569D457}"/>
              </a:ext>
            </a:extLst>
          </p:cNvPr>
          <p:cNvSpPr/>
          <p:nvPr/>
        </p:nvSpPr>
        <p:spPr>
          <a:xfrm>
            <a:off x="1992585" y="3750416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4EC741B-82CF-4D2A-945B-4C02D5E03FB3}"/>
              </a:ext>
            </a:extLst>
          </p:cNvPr>
          <p:cNvSpPr/>
          <p:nvPr/>
        </p:nvSpPr>
        <p:spPr>
          <a:xfrm rot="10800000">
            <a:off x="3080492" y="3956363"/>
            <a:ext cx="54895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703B79A-47A0-4B0B-81CC-D4C686E4225B}"/>
              </a:ext>
            </a:extLst>
          </p:cNvPr>
          <p:cNvSpPr/>
          <p:nvPr/>
        </p:nvSpPr>
        <p:spPr>
          <a:xfrm rot="8535430">
            <a:off x="4675462" y="3397363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설명선: 위쪽 화살표 37">
            <a:extLst>
              <a:ext uri="{FF2B5EF4-FFF2-40B4-BE49-F238E27FC236}">
                <a16:creationId xmlns:a16="http://schemas.microsoft.com/office/drawing/2014/main" id="{0954754A-5D6C-42B4-B327-3A27B497F146}"/>
              </a:ext>
            </a:extLst>
          </p:cNvPr>
          <p:cNvSpPr/>
          <p:nvPr/>
        </p:nvSpPr>
        <p:spPr>
          <a:xfrm>
            <a:off x="8518893" y="4980545"/>
            <a:ext cx="1362385" cy="886472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</a:p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9598C37-D881-4815-BD3B-82B9FA82B936}"/>
              </a:ext>
            </a:extLst>
          </p:cNvPr>
          <p:cNvSpPr/>
          <p:nvPr/>
        </p:nvSpPr>
        <p:spPr>
          <a:xfrm>
            <a:off x="3713704" y="3730746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799B6E1-4F4A-4869-B570-80DDCDC30A34}"/>
              </a:ext>
            </a:extLst>
          </p:cNvPr>
          <p:cNvSpPr/>
          <p:nvPr/>
        </p:nvSpPr>
        <p:spPr>
          <a:xfrm>
            <a:off x="5273610" y="2688861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A49D353-7AB5-4850-B80A-55A0BDBA240D}"/>
              </a:ext>
            </a:extLst>
          </p:cNvPr>
          <p:cNvSpPr/>
          <p:nvPr/>
        </p:nvSpPr>
        <p:spPr>
          <a:xfrm>
            <a:off x="1690686" y="5227871"/>
            <a:ext cx="4338640" cy="7633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[feature/detail-page] </a:t>
            </a:r>
          </a:p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브랜치의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모든 내용이 반영되어 삭제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2E52F9B-E273-4720-A083-8889D50AFC7A}"/>
              </a:ext>
            </a:extLst>
          </p:cNvPr>
          <p:cNvSpPr/>
          <p:nvPr/>
        </p:nvSpPr>
        <p:spPr>
          <a:xfrm>
            <a:off x="1690686" y="1405022"/>
            <a:ext cx="3786189" cy="362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Feature/detail-page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삭제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E84D5E4B-11DE-4805-A77E-3255B79414DB}"/>
              </a:ext>
            </a:extLst>
          </p:cNvPr>
          <p:cNvSpPr/>
          <p:nvPr/>
        </p:nvSpPr>
        <p:spPr>
          <a:xfrm rot="10800000">
            <a:off x="6353736" y="2868575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5AEE303-662D-4F60-93F3-C734BB084D0D}"/>
              </a:ext>
            </a:extLst>
          </p:cNvPr>
          <p:cNvSpPr/>
          <p:nvPr/>
        </p:nvSpPr>
        <p:spPr>
          <a:xfrm>
            <a:off x="7056492" y="2663885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7" name="설명선: 아래쪽 화살표 26">
            <a:extLst>
              <a:ext uri="{FF2B5EF4-FFF2-40B4-BE49-F238E27FC236}">
                <a16:creationId xmlns:a16="http://schemas.microsoft.com/office/drawing/2014/main" id="{380C1B7D-43B3-41AB-A2FC-61B22399C760}"/>
              </a:ext>
            </a:extLst>
          </p:cNvPr>
          <p:cNvSpPr/>
          <p:nvPr/>
        </p:nvSpPr>
        <p:spPr>
          <a:xfrm>
            <a:off x="6877124" y="1763066"/>
            <a:ext cx="1362385" cy="796178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sz="1400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B2B9C241-F04F-4589-B424-5B76EE788BD1}"/>
              </a:ext>
            </a:extLst>
          </p:cNvPr>
          <p:cNvSpPr/>
          <p:nvPr/>
        </p:nvSpPr>
        <p:spPr>
          <a:xfrm rot="10800000">
            <a:off x="4801608" y="4163617"/>
            <a:ext cx="3942238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6A5D5522-E6AB-4B49-A124-0253557E5298}"/>
              </a:ext>
            </a:extLst>
          </p:cNvPr>
          <p:cNvSpPr/>
          <p:nvPr/>
        </p:nvSpPr>
        <p:spPr>
          <a:xfrm>
            <a:off x="8828419" y="3950062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751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B9F1CF-FF6C-485A-AD20-E2E6E3D5E91D}"/>
              </a:ext>
            </a:extLst>
          </p:cNvPr>
          <p:cNvSpPr/>
          <p:nvPr/>
        </p:nvSpPr>
        <p:spPr>
          <a:xfrm>
            <a:off x="1690687" y="1419225"/>
            <a:ext cx="8810625" cy="4572000"/>
          </a:xfrm>
          <a:prstGeom prst="roundRect">
            <a:avLst>
              <a:gd name="adj" fmla="val 60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27A224-40AB-44DB-A4D8-AE465569D457}"/>
              </a:ext>
            </a:extLst>
          </p:cNvPr>
          <p:cNvSpPr/>
          <p:nvPr/>
        </p:nvSpPr>
        <p:spPr>
          <a:xfrm>
            <a:off x="1992585" y="3750416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4EC741B-82CF-4D2A-945B-4C02D5E03FB3}"/>
              </a:ext>
            </a:extLst>
          </p:cNvPr>
          <p:cNvSpPr/>
          <p:nvPr/>
        </p:nvSpPr>
        <p:spPr>
          <a:xfrm rot="10800000">
            <a:off x="3080492" y="3956363"/>
            <a:ext cx="54895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703B79A-47A0-4B0B-81CC-D4C686E4225B}"/>
              </a:ext>
            </a:extLst>
          </p:cNvPr>
          <p:cNvSpPr/>
          <p:nvPr/>
        </p:nvSpPr>
        <p:spPr>
          <a:xfrm rot="8190394">
            <a:off x="4601603" y="3283351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E0A08A1-804C-4D31-B2F7-70722FA29436}"/>
              </a:ext>
            </a:extLst>
          </p:cNvPr>
          <p:cNvSpPr/>
          <p:nvPr/>
        </p:nvSpPr>
        <p:spPr>
          <a:xfrm rot="10800000">
            <a:off x="6296362" y="2641397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021572F6-5E83-4E58-BD36-DD122FDCF9A1}"/>
              </a:ext>
            </a:extLst>
          </p:cNvPr>
          <p:cNvSpPr/>
          <p:nvPr/>
        </p:nvSpPr>
        <p:spPr>
          <a:xfrm rot="10800000">
            <a:off x="4801608" y="4163617"/>
            <a:ext cx="3942238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설명선: 위쪽 화살표 37">
            <a:extLst>
              <a:ext uri="{FF2B5EF4-FFF2-40B4-BE49-F238E27FC236}">
                <a16:creationId xmlns:a16="http://schemas.microsoft.com/office/drawing/2014/main" id="{0954754A-5D6C-42B4-B327-3A27B497F146}"/>
              </a:ext>
            </a:extLst>
          </p:cNvPr>
          <p:cNvSpPr/>
          <p:nvPr/>
        </p:nvSpPr>
        <p:spPr>
          <a:xfrm>
            <a:off x="8647308" y="4988024"/>
            <a:ext cx="1362385" cy="886472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</a:p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9598C37-D881-4815-BD3B-82B9FA82B936}"/>
              </a:ext>
            </a:extLst>
          </p:cNvPr>
          <p:cNvSpPr/>
          <p:nvPr/>
        </p:nvSpPr>
        <p:spPr>
          <a:xfrm>
            <a:off x="3713704" y="3730746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799B6E1-4F4A-4869-B570-80DDCDC30A34}"/>
              </a:ext>
            </a:extLst>
          </p:cNvPr>
          <p:cNvSpPr/>
          <p:nvPr/>
        </p:nvSpPr>
        <p:spPr>
          <a:xfrm>
            <a:off x="5216236" y="2461683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E454D86-EBE7-41E8-A128-597ABC242636}"/>
              </a:ext>
            </a:extLst>
          </p:cNvPr>
          <p:cNvSpPr/>
          <p:nvPr/>
        </p:nvSpPr>
        <p:spPr>
          <a:xfrm>
            <a:off x="6999118" y="2436707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CFCAC26-0DEE-465F-A6C5-4C9BE6AA6E84}"/>
              </a:ext>
            </a:extLst>
          </p:cNvPr>
          <p:cNvSpPr/>
          <p:nvPr/>
        </p:nvSpPr>
        <p:spPr>
          <a:xfrm>
            <a:off x="8826675" y="3948991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설명선: 아래쪽 화살표 3">
            <a:extLst>
              <a:ext uri="{FF2B5EF4-FFF2-40B4-BE49-F238E27FC236}">
                <a16:creationId xmlns:a16="http://schemas.microsoft.com/office/drawing/2014/main" id="{3F8BC979-142C-4220-8940-2F3BEB800AD5}"/>
              </a:ext>
            </a:extLst>
          </p:cNvPr>
          <p:cNvSpPr/>
          <p:nvPr/>
        </p:nvSpPr>
        <p:spPr>
          <a:xfrm>
            <a:off x="8737863" y="1440581"/>
            <a:ext cx="1362385" cy="796178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sz="1400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A49D353-7AB5-4850-B80A-55A0BDBA240D}"/>
              </a:ext>
            </a:extLst>
          </p:cNvPr>
          <p:cNvSpPr/>
          <p:nvPr/>
        </p:nvSpPr>
        <p:spPr>
          <a:xfrm>
            <a:off x="1690686" y="5090534"/>
            <a:ext cx="4529200" cy="900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와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 방식은 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 </a:t>
            </a:r>
            <a:r>
              <a:rPr lang="ko-KR" altLang="en-US" dirty="0" err="1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이며</a:t>
            </a:r>
            <a:endParaRPr lang="en-US" altLang="ko-KR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베이스로 병합 했기때문에</a:t>
            </a:r>
            <a:endParaRPr lang="en-US" altLang="ko-KR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커밋에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브랜치가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있는것이다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2E52F9B-E273-4720-A083-8889D50AFC7A}"/>
              </a:ext>
            </a:extLst>
          </p:cNvPr>
          <p:cNvSpPr/>
          <p:nvPr/>
        </p:nvSpPr>
        <p:spPr>
          <a:xfrm>
            <a:off x="1690686" y="1405022"/>
            <a:ext cx="5710239" cy="362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와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합친 병합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올린다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5B4F0E55-464F-4985-A894-DBCC5DE2E4D1}"/>
              </a:ext>
            </a:extLst>
          </p:cNvPr>
          <p:cNvSpPr/>
          <p:nvPr/>
        </p:nvSpPr>
        <p:spPr>
          <a:xfrm rot="10800000">
            <a:off x="8087340" y="2641397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7ED1016-1680-4201-B610-3913FC6B504D}"/>
              </a:ext>
            </a:extLst>
          </p:cNvPr>
          <p:cNvSpPr/>
          <p:nvPr/>
        </p:nvSpPr>
        <p:spPr>
          <a:xfrm>
            <a:off x="8828419" y="2286000"/>
            <a:ext cx="1181274" cy="10964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병합커밋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B1BBAB51-C9BA-4A97-84E3-7DBB67990DA2}"/>
              </a:ext>
            </a:extLst>
          </p:cNvPr>
          <p:cNvSpPr/>
          <p:nvPr/>
        </p:nvSpPr>
        <p:spPr>
          <a:xfrm>
            <a:off x="9089790" y="3480957"/>
            <a:ext cx="480908" cy="4230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599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</a:t>
            </a:r>
            <a:r>
              <a:rPr lang="en-US" altLang="ko-KR" sz="1800" dirty="0"/>
              <a:t>: </a:t>
            </a:r>
            <a:r>
              <a:rPr lang="ko-KR" altLang="en-US" sz="1800" dirty="0"/>
              <a:t>빨리 감기 병합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22A606-B432-4DB6-8E1C-CF24805A5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178" y="1600265"/>
            <a:ext cx="5720870" cy="44290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B4913A8-7356-4A88-82D2-8EBA356FCC62}"/>
              </a:ext>
            </a:extLst>
          </p:cNvPr>
          <p:cNvSpPr txBox="1"/>
          <p:nvPr/>
        </p:nvSpPr>
        <p:spPr>
          <a:xfrm>
            <a:off x="6677025" y="1600265"/>
            <a:ext cx="45360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소스트리에서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브랜치로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체크아웃 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3090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</a:t>
            </a:r>
            <a:r>
              <a:rPr lang="en-US" altLang="ko-KR" sz="1800" dirty="0"/>
              <a:t>: </a:t>
            </a:r>
            <a:r>
              <a:rPr lang="ko-KR" altLang="en-US" sz="1800" dirty="0"/>
              <a:t>빨리 감기 병합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C6E6FB-996F-49F2-82A7-20F556AB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76" y="1600541"/>
            <a:ext cx="5648947" cy="43575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6E76A0-EE17-4CFF-8910-3757F4A8A41E}"/>
              </a:ext>
            </a:extLst>
          </p:cNvPr>
          <p:cNvSpPr txBox="1"/>
          <p:nvPr/>
        </p:nvSpPr>
        <p:spPr>
          <a:xfrm>
            <a:off x="6677025" y="1600265"/>
            <a:ext cx="45360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[feature/detail-page]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병합하기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4064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</a:t>
            </a:r>
            <a:r>
              <a:rPr lang="en-US" altLang="ko-KR" sz="1800" dirty="0"/>
              <a:t>: </a:t>
            </a:r>
            <a:r>
              <a:rPr lang="ko-KR" altLang="en-US" sz="1800" dirty="0"/>
              <a:t>빨리 감기 병합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E76A0-EE17-4CFF-8910-3757F4A8A41E}"/>
              </a:ext>
            </a:extLst>
          </p:cNvPr>
          <p:cNvSpPr txBox="1"/>
          <p:nvPr/>
        </p:nvSpPr>
        <p:spPr>
          <a:xfrm>
            <a:off x="6677025" y="1600265"/>
            <a:ext cx="45360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원격저장소에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Push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진행하기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831BE3-4102-4166-9FD6-0ACCABED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19" y="1600264"/>
            <a:ext cx="5730953" cy="44195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7658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브랜치와</a:t>
            </a:r>
            <a:r>
              <a:rPr lang="ko-KR" altLang="en-US" dirty="0"/>
              <a:t> </a:t>
            </a:r>
            <a:r>
              <a:rPr lang="ko-KR" altLang="en-US" dirty="0" err="1"/>
              <a:t>브랜치를</a:t>
            </a:r>
            <a:r>
              <a:rPr lang="ko-KR" altLang="en-US" dirty="0"/>
              <a:t> 합치기 </a:t>
            </a:r>
            <a:r>
              <a:rPr lang="en-US" altLang="ko-KR" dirty="0"/>
              <a:t>: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</a:t>
            </a:r>
            <a:r>
              <a:rPr lang="en-US" altLang="ko-KR" sz="1800" dirty="0"/>
              <a:t>: </a:t>
            </a:r>
            <a:r>
              <a:rPr lang="ko-KR" altLang="en-US" sz="1800" dirty="0"/>
              <a:t>빨리 감기 병합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107BCE-A0D5-44D4-847D-CC81546C6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87" y="1872158"/>
            <a:ext cx="6479123" cy="37737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EFDA69-BFE3-4893-9A80-DB8078EFF78A}"/>
              </a:ext>
            </a:extLst>
          </p:cNvPr>
          <p:cNvSpPr txBox="1"/>
          <p:nvPr/>
        </p:nvSpPr>
        <p:spPr>
          <a:xfrm>
            <a:off x="7453697" y="1872158"/>
            <a:ext cx="383191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실습 결과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빨리 감기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와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[origin/master]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가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기능 명세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번에 추가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가리킨다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1069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설명 예제 상태도 설명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645591E-2EB3-4C39-BED3-E7EE46EB97D2}"/>
              </a:ext>
            </a:extLst>
          </p:cNvPr>
          <p:cNvSpPr/>
          <p:nvPr/>
        </p:nvSpPr>
        <p:spPr>
          <a:xfrm>
            <a:off x="1843180" y="2044630"/>
            <a:ext cx="8223802" cy="4095750"/>
          </a:xfrm>
          <a:prstGeom prst="roundRect">
            <a:avLst>
              <a:gd name="adj" fmla="val 467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2489816-49D7-4CFC-94F9-7C1CA9DD1C71}"/>
              </a:ext>
            </a:extLst>
          </p:cNvPr>
          <p:cNvSpPr/>
          <p:nvPr/>
        </p:nvSpPr>
        <p:spPr>
          <a:xfrm>
            <a:off x="2471349" y="4587215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987A87C-3EC1-4F14-92E5-3B928B5DD543}"/>
              </a:ext>
            </a:extLst>
          </p:cNvPr>
          <p:cNvSpPr/>
          <p:nvPr/>
        </p:nvSpPr>
        <p:spPr>
          <a:xfrm rot="8535430">
            <a:off x="3358968" y="4081487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C065C2CE-7F22-43FB-B041-597BAF9072A4}"/>
              </a:ext>
            </a:extLst>
          </p:cNvPr>
          <p:cNvSpPr/>
          <p:nvPr/>
        </p:nvSpPr>
        <p:spPr>
          <a:xfrm rot="10800000">
            <a:off x="5280374" y="3736214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2216854E-7AAA-4E03-938A-8084CF3A10CB}"/>
              </a:ext>
            </a:extLst>
          </p:cNvPr>
          <p:cNvSpPr/>
          <p:nvPr/>
        </p:nvSpPr>
        <p:spPr>
          <a:xfrm rot="10800000">
            <a:off x="3548369" y="4834332"/>
            <a:ext cx="229256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E9A9CF67-0E61-471A-B471-28BEF367DF24}"/>
              </a:ext>
            </a:extLst>
          </p:cNvPr>
          <p:cNvSpPr/>
          <p:nvPr/>
        </p:nvSpPr>
        <p:spPr>
          <a:xfrm>
            <a:off x="4090746" y="3515740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40B4FBB-AC6E-420E-B812-B538AA981D7B}"/>
              </a:ext>
            </a:extLst>
          </p:cNvPr>
          <p:cNvSpPr/>
          <p:nvPr/>
        </p:nvSpPr>
        <p:spPr>
          <a:xfrm>
            <a:off x="5993181" y="3475730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D6D0EA4-9448-4892-87FB-A960CCEA97A5}"/>
              </a:ext>
            </a:extLst>
          </p:cNvPr>
          <p:cNvSpPr/>
          <p:nvPr/>
        </p:nvSpPr>
        <p:spPr>
          <a:xfrm>
            <a:off x="5993181" y="4601130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16A58B-730B-446A-885A-EB2F53A41F70}"/>
              </a:ext>
            </a:extLst>
          </p:cNvPr>
          <p:cNvSpPr/>
          <p:nvPr/>
        </p:nvSpPr>
        <p:spPr>
          <a:xfrm>
            <a:off x="1806024" y="2016084"/>
            <a:ext cx="5728816" cy="331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브랜치를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땡겨와서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브랜치에서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병합</a:t>
            </a: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2AF4A04A-5FDE-40F0-B437-53B0B786196A}"/>
              </a:ext>
            </a:extLst>
          </p:cNvPr>
          <p:cNvSpPr/>
          <p:nvPr/>
        </p:nvSpPr>
        <p:spPr>
          <a:xfrm rot="12903415">
            <a:off x="7158511" y="3965776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6E6F13BB-428F-4DB4-BC04-37CB0D0E8F54}"/>
              </a:ext>
            </a:extLst>
          </p:cNvPr>
          <p:cNvSpPr/>
          <p:nvPr/>
        </p:nvSpPr>
        <p:spPr>
          <a:xfrm rot="10800000">
            <a:off x="7149078" y="4807297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4B90AC-2FC9-4507-8031-4D89E702E1CA}"/>
              </a:ext>
            </a:extLst>
          </p:cNvPr>
          <p:cNvSpPr/>
          <p:nvPr/>
        </p:nvSpPr>
        <p:spPr>
          <a:xfrm>
            <a:off x="7894347" y="4529092"/>
            <a:ext cx="1187648" cy="11265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병합커밋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5" name="설명선: 아래쪽 화살표 44">
            <a:extLst>
              <a:ext uri="{FF2B5EF4-FFF2-40B4-BE49-F238E27FC236}">
                <a16:creationId xmlns:a16="http://schemas.microsoft.com/office/drawing/2014/main" id="{EF7A0DFD-32E7-464D-9D40-8137C72382EA}"/>
              </a:ext>
            </a:extLst>
          </p:cNvPr>
          <p:cNvSpPr/>
          <p:nvPr/>
        </p:nvSpPr>
        <p:spPr>
          <a:xfrm>
            <a:off x="5813813" y="2509431"/>
            <a:ext cx="1362385" cy="796178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sz="1400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7" name="설명선: 아래쪽 화살표 46">
            <a:extLst>
              <a:ext uri="{FF2B5EF4-FFF2-40B4-BE49-F238E27FC236}">
                <a16:creationId xmlns:a16="http://schemas.microsoft.com/office/drawing/2014/main" id="{D458809B-DFF6-49D7-B5BD-893F21FBCC3D}"/>
              </a:ext>
            </a:extLst>
          </p:cNvPr>
          <p:cNvSpPr/>
          <p:nvPr/>
        </p:nvSpPr>
        <p:spPr>
          <a:xfrm>
            <a:off x="7748211" y="3619693"/>
            <a:ext cx="1362385" cy="796178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  <a:r>
              <a:rPr lang="ko-KR" altLang="en-US" sz="1400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0463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945929F-E91B-410D-8C21-5ABBB1665B03}"/>
              </a:ext>
            </a:extLst>
          </p:cNvPr>
          <p:cNvSpPr/>
          <p:nvPr/>
        </p:nvSpPr>
        <p:spPr>
          <a:xfrm>
            <a:off x="1690687" y="1419225"/>
            <a:ext cx="8810625" cy="4572000"/>
          </a:xfrm>
          <a:prstGeom prst="roundRect">
            <a:avLst>
              <a:gd name="adj" fmla="val 60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31146C0-C6E4-4ACF-A9A2-551EF3C0D019}"/>
              </a:ext>
            </a:extLst>
          </p:cNvPr>
          <p:cNvSpPr/>
          <p:nvPr/>
        </p:nvSpPr>
        <p:spPr>
          <a:xfrm>
            <a:off x="2278335" y="3499883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EF01944-0EC1-4E75-80E1-AA118AAD6AA2}"/>
              </a:ext>
            </a:extLst>
          </p:cNvPr>
          <p:cNvSpPr/>
          <p:nvPr/>
        </p:nvSpPr>
        <p:spPr>
          <a:xfrm>
            <a:off x="1690686" y="1405022"/>
            <a:ext cx="6646113" cy="362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브랜치에서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병합한 병합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반영</a:t>
            </a:r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3638DAB0-7ED2-4D8F-9E31-760F59D4A01F}"/>
              </a:ext>
            </a:extLst>
          </p:cNvPr>
          <p:cNvSpPr/>
          <p:nvPr/>
        </p:nvSpPr>
        <p:spPr>
          <a:xfrm rot="8535430">
            <a:off x="3144722" y="3088990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A63BCDD8-5FF6-4C14-9DBF-818F3774261C}"/>
              </a:ext>
            </a:extLst>
          </p:cNvPr>
          <p:cNvSpPr/>
          <p:nvPr/>
        </p:nvSpPr>
        <p:spPr>
          <a:xfrm rot="10800000">
            <a:off x="5027555" y="2744766"/>
            <a:ext cx="59913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87AFE8D8-132F-49BD-9965-084197680C0D}"/>
              </a:ext>
            </a:extLst>
          </p:cNvPr>
          <p:cNvSpPr/>
          <p:nvPr/>
        </p:nvSpPr>
        <p:spPr>
          <a:xfrm rot="10800000">
            <a:off x="3334123" y="3841835"/>
            <a:ext cx="2292565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4A9F77E-D89F-41F2-8B8B-9356AFA524CB}"/>
              </a:ext>
            </a:extLst>
          </p:cNvPr>
          <p:cNvSpPr/>
          <p:nvPr/>
        </p:nvSpPr>
        <p:spPr>
          <a:xfrm>
            <a:off x="3876500" y="2523243"/>
            <a:ext cx="1003650" cy="94576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B8B7FB6-9D88-4FBA-92DE-512193E5DBC2}"/>
              </a:ext>
            </a:extLst>
          </p:cNvPr>
          <p:cNvSpPr/>
          <p:nvPr/>
        </p:nvSpPr>
        <p:spPr>
          <a:xfrm>
            <a:off x="5778935" y="2483233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A46C5853-288D-4E7A-A29F-67E92DF335DE}"/>
              </a:ext>
            </a:extLst>
          </p:cNvPr>
          <p:cNvSpPr/>
          <p:nvPr/>
        </p:nvSpPr>
        <p:spPr>
          <a:xfrm>
            <a:off x="5778935" y="3608633"/>
            <a:ext cx="1003650" cy="94576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AB975638-AE2E-4031-83E1-2CC2B37EBA4B}"/>
              </a:ext>
            </a:extLst>
          </p:cNvPr>
          <p:cNvSpPr/>
          <p:nvPr/>
        </p:nvSpPr>
        <p:spPr>
          <a:xfrm rot="12434654">
            <a:off x="6855016" y="2944416"/>
            <a:ext cx="1147588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F05C2204-CE65-43F1-A8E9-17B7D6FB20F1}"/>
              </a:ext>
            </a:extLst>
          </p:cNvPr>
          <p:cNvSpPr/>
          <p:nvPr/>
        </p:nvSpPr>
        <p:spPr>
          <a:xfrm rot="10800000">
            <a:off x="6934831" y="3814799"/>
            <a:ext cx="990843" cy="5325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F9A88272-F5E9-4E85-9831-645E958CC48F}"/>
              </a:ext>
            </a:extLst>
          </p:cNvPr>
          <p:cNvSpPr/>
          <p:nvPr/>
        </p:nvSpPr>
        <p:spPr>
          <a:xfrm>
            <a:off x="8013045" y="3543548"/>
            <a:ext cx="1187648" cy="11265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병합커밋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71" name="설명선: 아래쪽 화살표 70">
            <a:extLst>
              <a:ext uri="{FF2B5EF4-FFF2-40B4-BE49-F238E27FC236}">
                <a16:creationId xmlns:a16="http://schemas.microsoft.com/office/drawing/2014/main" id="{D5ED7019-CF18-4580-B0D2-C523D7570844}"/>
              </a:ext>
            </a:extLst>
          </p:cNvPr>
          <p:cNvSpPr/>
          <p:nvPr/>
        </p:nvSpPr>
        <p:spPr>
          <a:xfrm>
            <a:off x="7925675" y="2679785"/>
            <a:ext cx="1362385" cy="796178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Master </a:t>
            </a:r>
            <a:r>
              <a:rPr lang="ko-KR" altLang="en-US" sz="1400" dirty="0" err="1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73" name="설명선: 위쪽 화살표 72">
            <a:extLst>
              <a:ext uri="{FF2B5EF4-FFF2-40B4-BE49-F238E27FC236}">
                <a16:creationId xmlns:a16="http://schemas.microsoft.com/office/drawing/2014/main" id="{C10515CD-0577-4E74-8779-7D1938D73A83}"/>
              </a:ext>
            </a:extLst>
          </p:cNvPr>
          <p:cNvSpPr/>
          <p:nvPr/>
        </p:nvSpPr>
        <p:spPr>
          <a:xfrm>
            <a:off x="7925676" y="4734466"/>
            <a:ext cx="1362385" cy="886472"/>
          </a:xfrm>
          <a:prstGeom prst="up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Feature/cart</a:t>
            </a:r>
          </a:p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ko-KR" altLang="en-US" sz="1400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1724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FDA69-BFE3-4893-9A80-DB8078EFF78A}"/>
              </a:ext>
            </a:extLst>
          </p:cNvPr>
          <p:cNvSpPr txBox="1"/>
          <p:nvPr/>
        </p:nvSpPr>
        <p:spPr>
          <a:xfrm>
            <a:off x="7991475" y="1672391"/>
            <a:ext cx="329413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[feature/cart]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기준으로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병합하고 해당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브랜치로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체크아웃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EE21FD-7485-48BE-80E8-BB0B3C489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87" y="1672391"/>
            <a:ext cx="7016901" cy="40869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6263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FDA69-BFE3-4893-9A80-DB8078EFF78A}"/>
              </a:ext>
            </a:extLst>
          </p:cNvPr>
          <p:cNvSpPr txBox="1"/>
          <p:nvPr/>
        </p:nvSpPr>
        <p:spPr>
          <a:xfrm>
            <a:off x="7991475" y="1672391"/>
            <a:ext cx="32941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최신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90EFFC-161C-4FFC-ADB1-5EAB57BD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87" y="1672390"/>
            <a:ext cx="7022650" cy="40711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1893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FDA69-BFE3-4893-9A80-DB8078EFF78A}"/>
              </a:ext>
            </a:extLst>
          </p:cNvPr>
          <p:cNvSpPr txBox="1"/>
          <p:nvPr/>
        </p:nvSpPr>
        <p:spPr>
          <a:xfrm>
            <a:off x="7991475" y="1672391"/>
            <a:ext cx="32941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커밋하지 않은 변경사항 확인하기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Feature-list.md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충돌된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부분 확인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919EF1-D5BE-4B96-BA82-D1433A48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87" y="1672391"/>
            <a:ext cx="7016901" cy="4438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051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6C3672-9724-4E36-BFE9-AA143AD4A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776110"/>
            <a:ext cx="4591050" cy="2963535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6BF90F5-A18E-4987-805F-41C7A9C38363}"/>
              </a:ext>
            </a:extLst>
          </p:cNvPr>
          <p:cNvSpPr/>
          <p:nvPr/>
        </p:nvSpPr>
        <p:spPr>
          <a:xfrm>
            <a:off x="5657849" y="2654300"/>
            <a:ext cx="876302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3EF069-A339-47B5-93F2-82C58346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1" y="1776110"/>
            <a:ext cx="4075776" cy="29635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57A042-7D6F-4562-9676-1A9D40F2ACD6}"/>
              </a:ext>
            </a:extLst>
          </p:cNvPr>
          <p:cNvSpPr txBox="1"/>
          <p:nvPr/>
        </p:nvSpPr>
        <p:spPr>
          <a:xfrm>
            <a:off x="952499" y="4866765"/>
            <a:ext cx="97717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Feature-list.md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visual studio code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프로그램으로 실행 후 내부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Code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수정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3772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Accept Current Change 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위의 코드만 남는다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Accept Incoming Change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아래의 코드만 남는다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Accept Both Changes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위 아래 두 코드가 남는다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Compare Changes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충돌되는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Code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비교해서 보여준다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20D223-1281-44C7-8AE6-43DF2EB5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81" y="1581150"/>
            <a:ext cx="64770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91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Feature-list.md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파일의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[+]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버튼을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클릭해서 스테이지 위로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Add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52CAE3-7EF2-4C62-A930-8414FD83F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6447745" cy="4629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0735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충돌 해결 끝나 스테이지 텅 비게 되면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다시 병합 재개하기 위해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만든다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748F86-7EA8-4F11-B736-A76A23AF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49"/>
            <a:ext cx="6440412" cy="45859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947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Feature-list.md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 충돌이 났기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때문에 나오는 문구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영문 메시지를 그대로 두고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버튼을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누르면 병합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커밋이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진행된다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D81E34-335B-499B-9119-FF9487BF3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6440412" cy="46002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1241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충돌이 없이 병합이 된 것을 확인가능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9686A0-8EA5-4A9E-97AD-441636C13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6" y="1581150"/>
            <a:ext cx="6440412" cy="46247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542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Push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버튼을 눌러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원격저장소에 반영하기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8C284A-3056-4373-A202-0110E66EF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6435389" cy="4581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37716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39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Push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버튼을 눌러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원격저장소에 반영하기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AAB07D-D4FF-47EB-86AF-90D27AEA0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6440412" cy="460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606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[feature/cart]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브랜치에서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병합한 병합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커밋을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반영한다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3D0CB44-B1E7-4DFA-B1DA-993BDB185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1"/>
            <a:ext cx="6440412" cy="45868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84616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[feature/cart]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브랜치에서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병합을 진행한다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E633EC-0F5F-4C3F-8B3E-158498E3C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6440412" cy="45986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70089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[origin/master]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는 옛날 버전이니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[Push]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눌러 원격저장소에도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반영해준다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D88CC1-0CC3-4D17-AB02-C7A93DC89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6446070" cy="459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95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[feature/detail-page]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[feature/cart]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모두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반영됬는지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확인하기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소스트리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C8AB26-CC0A-4773-B885-48885DF9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6468515" cy="46102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41055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충돌</a:t>
            </a:r>
            <a:r>
              <a:rPr lang="en-US" altLang="ko-KR" dirty="0"/>
              <a:t>(Conflict) </a:t>
            </a:r>
            <a:r>
              <a:rPr lang="ko-KR" altLang="en-US" dirty="0"/>
              <a:t>해결하기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44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 err="1"/>
              <a:t>브랜치</a:t>
            </a:r>
            <a:r>
              <a:rPr lang="ko-KR" altLang="en-US" sz="1800" dirty="0"/>
              <a:t> 합치기 실습 </a:t>
            </a:r>
            <a:r>
              <a:rPr lang="en-US" altLang="ko-KR" sz="1800" dirty="0"/>
              <a:t>: </a:t>
            </a:r>
            <a:r>
              <a:rPr lang="ko-KR" altLang="en-US" sz="1800" dirty="0"/>
              <a:t>병합 </a:t>
            </a:r>
            <a:r>
              <a:rPr lang="ko-KR" altLang="en-US" sz="1800" dirty="0" err="1"/>
              <a:t>커밋</a:t>
            </a:r>
            <a:r>
              <a:rPr lang="ko-KR" altLang="en-US" sz="1800" dirty="0"/>
              <a:t> 및 충돌 해결 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5F879-7957-4B00-B394-A6C5A4B8F3E9}"/>
              </a:ext>
            </a:extLst>
          </p:cNvPr>
          <p:cNvSpPr txBox="1"/>
          <p:nvPr/>
        </p:nvSpPr>
        <p:spPr>
          <a:xfrm>
            <a:off x="7488162" y="1581150"/>
            <a:ext cx="376086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[feature/detail-page]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[feature/cart]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모두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반영됬는지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확인하기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(GitHub)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8111A1-557A-4EF6-B4E2-7DC800AD8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81150"/>
            <a:ext cx="5886450" cy="43562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7BAD7BE-7682-42B4-9C36-898847823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217" y="2933898"/>
            <a:ext cx="2646437" cy="26197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F865B6-0480-43DB-A826-A4D6E6A8FDF9}"/>
              </a:ext>
            </a:extLst>
          </p:cNvPr>
          <p:cNvSpPr txBox="1"/>
          <p:nvPr/>
        </p:nvSpPr>
        <p:spPr>
          <a:xfrm>
            <a:off x="2005768" y="5935296"/>
            <a:ext cx="37608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(feature-list.md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Push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확인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89CE78-CEF0-4165-9D7A-DF4987AF6E5B}"/>
              </a:ext>
            </a:extLst>
          </p:cNvPr>
          <p:cNvSpPr txBox="1"/>
          <p:nvPr/>
        </p:nvSpPr>
        <p:spPr>
          <a:xfrm>
            <a:off x="7215565" y="5655671"/>
            <a:ext cx="399974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(feature/cart, feature/detail-page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Push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확인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04852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브랜치를</a:t>
            </a:r>
            <a:r>
              <a:rPr lang="ko-KR" altLang="en-US" dirty="0"/>
              <a:t> 합치는 </a:t>
            </a:r>
            <a:r>
              <a:rPr lang="ko-KR" altLang="en-US" dirty="0" err="1"/>
              <a:t>예의바른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dirty="0"/>
              <a:t>풀 </a:t>
            </a:r>
            <a:r>
              <a:rPr lang="ko-KR" altLang="en-US" dirty="0" err="1"/>
              <a:t>리퀘스트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45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풀 </a:t>
            </a:r>
            <a:r>
              <a:rPr lang="ko-KR" altLang="en-US" sz="1800" dirty="0" err="1"/>
              <a:t>리퀘스트</a:t>
            </a:r>
            <a:r>
              <a:rPr lang="ko-KR" altLang="en-US" sz="1800" dirty="0"/>
              <a:t> </a:t>
            </a:r>
            <a:r>
              <a:rPr lang="en-US" altLang="ko-KR" sz="1800" dirty="0"/>
              <a:t>:</a:t>
            </a:r>
            <a:r>
              <a:rPr lang="ko-KR" altLang="en-US" sz="1800" dirty="0"/>
              <a:t> 협력자에게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병합을 요청하는 메시지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풀 </a:t>
            </a:r>
            <a:r>
              <a:rPr lang="ko-KR" altLang="en-US" sz="1800" dirty="0" err="1"/>
              <a:t>리퀘스트</a:t>
            </a:r>
            <a:r>
              <a:rPr lang="ko-KR" altLang="en-US" sz="1800" dirty="0"/>
              <a:t> 만들기</a:t>
            </a: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BDC35E-FF88-4189-BC65-059AEBE4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58" y="1933575"/>
            <a:ext cx="6044867" cy="4320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BAE36D-8699-47BD-9F50-3C8813A5081A}"/>
              </a:ext>
            </a:extLst>
          </p:cNvPr>
          <p:cNvSpPr txBox="1"/>
          <p:nvPr/>
        </p:nvSpPr>
        <p:spPr>
          <a:xfrm>
            <a:off x="7287381" y="1933575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댓글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기능 제작을 위한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[feature/comment]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생성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34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브랜치를</a:t>
            </a:r>
            <a:r>
              <a:rPr lang="ko-KR" altLang="en-US" dirty="0"/>
              <a:t> 합치는 </a:t>
            </a:r>
            <a:r>
              <a:rPr lang="ko-KR" altLang="en-US" dirty="0" err="1"/>
              <a:t>예의바른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dirty="0"/>
              <a:t>풀 </a:t>
            </a:r>
            <a:r>
              <a:rPr lang="ko-KR" altLang="en-US" dirty="0" err="1"/>
              <a:t>리퀘스트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풀 </a:t>
            </a:r>
            <a:r>
              <a:rPr lang="ko-KR" altLang="en-US" sz="1800" dirty="0" err="1"/>
              <a:t>리퀘스트</a:t>
            </a:r>
            <a:r>
              <a:rPr lang="ko-KR" altLang="en-US" sz="1800" dirty="0"/>
              <a:t> 만들기</a:t>
            </a:r>
            <a:endParaRPr lang="en-US" altLang="ko-KR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AE36D-8699-47BD-9F50-3C8813A5081A}"/>
              </a:ext>
            </a:extLst>
          </p:cNvPr>
          <p:cNvSpPr txBox="1"/>
          <p:nvPr/>
        </p:nvSpPr>
        <p:spPr>
          <a:xfrm>
            <a:off x="7287381" y="1933575"/>
            <a:ext cx="37608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[comment.md]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 생성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E46327-8C91-4512-81BA-7B82F9090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16" y="1933575"/>
            <a:ext cx="6229350" cy="38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76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브랜치를</a:t>
            </a:r>
            <a:r>
              <a:rPr lang="ko-KR" altLang="en-US" dirty="0"/>
              <a:t> 합치는 </a:t>
            </a:r>
            <a:r>
              <a:rPr lang="ko-KR" altLang="en-US" dirty="0" err="1"/>
              <a:t>예의바른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dirty="0"/>
              <a:t>풀 </a:t>
            </a:r>
            <a:r>
              <a:rPr lang="ko-KR" altLang="en-US" dirty="0" err="1"/>
              <a:t>리퀘스트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47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풀 </a:t>
            </a:r>
            <a:r>
              <a:rPr lang="ko-KR" altLang="en-US" sz="1800" dirty="0" err="1"/>
              <a:t>리퀘스트</a:t>
            </a:r>
            <a:r>
              <a:rPr lang="ko-KR" altLang="en-US" sz="1800" dirty="0"/>
              <a:t> 만들기</a:t>
            </a:r>
            <a:endParaRPr lang="en-US" altLang="ko-KR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AE36D-8699-47BD-9F50-3C8813A5081A}"/>
              </a:ext>
            </a:extLst>
          </p:cNvPr>
          <p:cNvSpPr txBox="1"/>
          <p:nvPr/>
        </p:nvSpPr>
        <p:spPr>
          <a:xfrm>
            <a:off x="7315200" y="1590675"/>
            <a:ext cx="376086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Comment.md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파일을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스테이지 위로 올린 이후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메시지에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댓글 기능 추가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추가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2B68CF-5651-4A5B-8826-E4F6626A8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590675"/>
            <a:ext cx="6210300" cy="44359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1852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 err="1"/>
              <a:t>브랜치를</a:t>
            </a:r>
            <a:r>
              <a:rPr lang="ko-KR" altLang="en-US" dirty="0"/>
              <a:t> 합치는 </a:t>
            </a:r>
            <a:r>
              <a:rPr lang="ko-KR" altLang="en-US" dirty="0" err="1"/>
              <a:t>예의바른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dirty="0"/>
              <a:t>풀 </a:t>
            </a:r>
            <a:r>
              <a:rPr lang="ko-KR" altLang="en-US" dirty="0" err="1"/>
              <a:t>리퀘스트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48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GitHub</a:t>
            </a:r>
            <a:r>
              <a:rPr lang="ko-KR" altLang="en-US" sz="1800" dirty="0"/>
              <a:t> 풀 </a:t>
            </a:r>
            <a:r>
              <a:rPr lang="ko-KR" altLang="en-US" sz="1800" dirty="0" err="1"/>
              <a:t>리퀘스트</a:t>
            </a:r>
            <a:r>
              <a:rPr lang="ko-KR" altLang="en-US" sz="1800" dirty="0"/>
              <a:t> 페이지의 각 입력 창에 대한 설명</a:t>
            </a:r>
            <a:endParaRPr lang="en-US" altLang="ko-KR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AE36D-8699-47BD-9F50-3C8813A5081A}"/>
              </a:ext>
            </a:extLst>
          </p:cNvPr>
          <p:cNvSpPr txBox="1"/>
          <p:nvPr/>
        </p:nvSpPr>
        <p:spPr>
          <a:xfrm>
            <a:off x="7555209" y="1202329"/>
            <a:ext cx="3760863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①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Base: master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병합된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커밋이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들어갈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브랜치를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정하는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선택박스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②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compare: feature/comment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병합의 대상이 될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③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Able to merge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Base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compare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브랜치가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충돌 없이 병합될 수 있다는 뜻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④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풀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리퀘스트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제목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⑤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풀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리퀘스트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내용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⑥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Reviewers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협력자를 선택해서 풀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리퀘스트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검토해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달라는 요청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⑦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Assignees 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담당하는 동료를 적어준다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⑧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Labels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풀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리퀘스트에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관한 라벨을 달아준다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Ex:)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버그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리뷰 필요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프런트엔드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등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A6CF8B-9DE1-4D6A-9959-A63439136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89" y="1590675"/>
            <a:ext cx="6695020" cy="44672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15DAC2B-F9A2-4FBF-9CAA-12AA4A4FA921}"/>
              </a:ext>
            </a:extLst>
          </p:cNvPr>
          <p:cNvSpPr/>
          <p:nvPr/>
        </p:nvSpPr>
        <p:spPr>
          <a:xfrm>
            <a:off x="1293555" y="2548451"/>
            <a:ext cx="505202" cy="1947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EE18D837-5EAE-4FB1-9C4C-6443CEBC5F24}"/>
              </a:ext>
            </a:extLst>
          </p:cNvPr>
          <p:cNvSpPr/>
          <p:nvPr/>
        </p:nvSpPr>
        <p:spPr>
          <a:xfrm>
            <a:off x="1234723" y="249531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9C8B2E-40EA-4623-B6BA-4D825D6EE3FF}"/>
              </a:ext>
            </a:extLst>
          </p:cNvPr>
          <p:cNvSpPr/>
          <p:nvPr/>
        </p:nvSpPr>
        <p:spPr>
          <a:xfrm>
            <a:off x="1979521" y="2548451"/>
            <a:ext cx="963703" cy="1947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23778A33-F99C-4C2F-BC4F-5450A3EF832D}"/>
              </a:ext>
            </a:extLst>
          </p:cNvPr>
          <p:cNvSpPr/>
          <p:nvPr/>
        </p:nvSpPr>
        <p:spPr>
          <a:xfrm>
            <a:off x="1920690" y="249531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CCF68E-80D0-4361-B927-E3E72C893BEE}"/>
              </a:ext>
            </a:extLst>
          </p:cNvPr>
          <p:cNvSpPr/>
          <p:nvPr/>
        </p:nvSpPr>
        <p:spPr>
          <a:xfrm>
            <a:off x="3038235" y="2548451"/>
            <a:ext cx="609840" cy="1947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8D2C56D2-C2D6-468B-AF02-1B876E01DAB3}"/>
              </a:ext>
            </a:extLst>
          </p:cNvPr>
          <p:cNvSpPr/>
          <p:nvPr/>
        </p:nvSpPr>
        <p:spPr>
          <a:xfrm>
            <a:off x="2979403" y="249531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176620-6414-4C97-84C1-E0429AFABE64}"/>
              </a:ext>
            </a:extLst>
          </p:cNvPr>
          <p:cNvSpPr/>
          <p:nvPr/>
        </p:nvSpPr>
        <p:spPr>
          <a:xfrm>
            <a:off x="1341394" y="2882772"/>
            <a:ext cx="4316456" cy="1947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D18E605E-F821-45E2-86D3-DCB3EF194790}"/>
              </a:ext>
            </a:extLst>
          </p:cNvPr>
          <p:cNvSpPr/>
          <p:nvPr/>
        </p:nvSpPr>
        <p:spPr>
          <a:xfrm>
            <a:off x="1282562" y="2829639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61FEB8-6F33-40A2-9823-78EAA406FD13}"/>
              </a:ext>
            </a:extLst>
          </p:cNvPr>
          <p:cNvSpPr/>
          <p:nvPr/>
        </p:nvSpPr>
        <p:spPr>
          <a:xfrm>
            <a:off x="1357080" y="3408852"/>
            <a:ext cx="4300770" cy="9607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4CE57D6A-D2D8-4697-931E-D18EFEA1686A}"/>
              </a:ext>
            </a:extLst>
          </p:cNvPr>
          <p:cNvSpPr/>
          <p:nvPr/>
        </p:nvSpPr>
        <p:spPr>
          <a:xfrm>
            <a:off x="1298248" y="3355719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610177-52F4-434A-86C0-E32D0B8B6C7D}"/>
              </a:ext>
            </a:extLst>
          </p:cNvPr>
          <p:cNvSpPr/>
          <p:nvPr/>
        </p:nvSpPr>
        <p:spPr>
          <a:xfrm>
            <a:off x="5764520" y="2838530"/>
            <a:ext cx="1664979" cy="361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1E2D1A42-D294-4D2E-94AE-E76E0EF7AD55}"/>
              </a:ext>
            </a:extLst>
          </p:cNvPr>
          <p:cNvSpPr/>
          <p:nvPr/>
        </p:nvSpPr>
        <p:spPr>
          <a:xfrm>
            <a:off x="5705689" y="278539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7597455-E471-4F44-9575-EDBBA230F713}"/>
              </a:ext>
            </a:extLst>
          </p:cNvPr>
          <p:cNvSpPr/>
          <p:nvPr/>
        </p:nvSpPr>
        <p:spPr>
          <a:xfrm>
            <a:off x="5764520" y="3270468"/>
            <a:ext cx="1664978" cy="361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9EEEC347-8AA5-42BC-913B-6F86544E37EF}"/>
              </a:ext>
            </a:extLst>
          </p:cNvPr>
          <p:cNvSpPr/>
          <p:nvPr/>
        </p:nvSpPr>
        <p:spPr>
          <a:xfrm>
            <a:off x="5705688" y="321733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7347A58-9115-414F-B4E9-576C6017E379}"/>
              </a:ext>
            </a:extLst>
          </p:cNvPr>
          <p:cNvSpPr/>
          <p:nvPr/>
        </p:nvSpPr>
        <p:spPr>
          <a:xfrm>
            <a:off x="5764520" y="3689441"/>
            <a:ext cx="1664978" cy="361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순서도: 연결자 27">
            <a:extLst>
              <a:ext uri="{FF2B5EF4-FFF2-40B4-BE49-F238E27FC236}">
                <a16:creationId xmlns:a16="http://schemas.microsoft.com/office/drawing/2014/main" id="{F482DA52-09BD-4C36-A846-9E7A17621608}"/>
              </a:ext>
            </a:extLst>
          </p:cNvPr>
          <p:cNvSpPr/>
          <p:nvPr/>
        </p:nvSpPr>
        <p:spPr>
          <a:xfrm>
            <a:off x="5705688" y="363630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08398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릴리즈</a:t>
            </a:r>
            <a:r>
              <a:rPr lang="en-US" altLang="ko-KR" dirty="0"/>
              <a:t>(release)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프로그램의 버전</a:t>
            </a:r>
            <a:r>
              <a:rPr lang="en-US" altLang="ko-KR" sz="1800" dirty="0"/>
              <a:t>(version)</a:t>
            </a:r>
            <a:r>
              <a:rPr lang="ko-KR" altLang="en-US" sz="1800" dirty="0"/>
              <a:t>이란</a:t>
            </a:r>
            <a:r>
              <a:rPr lang="en-US" altLang="ko-KR" sz="1800" dirty="0"/>
              <a:t>?</a:t>
            </a:r>
          </a:p>
          <a:p>
            <a:pPr marL="0" indent="0">
              <a:buNone/>
            </a:pPr>
            <a:r>
              <a:rPr lang="ko-KR" altLang="en-US" sz="1800" dirty="0"/>
              <a:t>버전을 올리는 것은 크게 메이저</a:t>
            </a:r>
            <a:r>
              <a:rPr lang="en-US" altLang="ko-KR" sz="1800" dirty="0"/>
              <a:t>(Major)</a:t>
            </a:r>
            <a:r>
              <a:rPr lang="ko-KR" altLang="en-US" sz="1800" dirty="0"/>
              <a:t> 업그레이드</a:t>
            </a:r>
            <a:r>
              <a:rPr lang="en-US" altLang="ko-KR" sz="1800" dirty="0"/>
              <a:t>, </a:t>
            </a:r>
            <a:r>
              <a:rPr lang="ko-KR" altLang="en-US" sz="1800" dirty="0"/>
              <a:t>마이너</a:t>
            </a:r>
            <a:r>
              <a:rPr lang="en-US" altLang="ko-KR" sz="1800" dirty="0"/>
              <a:t>(Minor) </a:t>
            </a:r>
            <a:r>
              <a:rPr lang="ko-KR" altLang="en-US" sz="1800" dirty="0"/>
              <a:t>업그레이드로 나뉜다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메이저</a:t>
            </a:r>
            <a:r>
              <a:rPr lang="en-US" altLang="ko-KR" sz="1800" dirty="0"/>
              <a:t>(Major) </a:t>
            </a:r>
            <a:r>
              <a:rPr lang="ko-KR" altLang="en-US" sz="1800" dirty="0"/>
              <a:t>업그레이드 </a:t>
            </a:r>
            <a:r>
              <a:rPr lang="en-US" altLang="ko-KR" sz="1800" dirty="0"/>
              <a:t>: </a:t>
            </a:r>
            <a:r>
              <a:rPr lang="ko-KR" altLang="en-US" sz="1800" dirty="0"/>
              <a:t>사용자들이 크게 느낄 변화를 적용했을 때 사용 </a:t>
            </a:r>
            <a:r>
              <a:rPr lang="en-US" altLang="ko-KR" sz="1800" dirty="0"/>
              <a:t>( v2.x  </a:t>
            </a:r>
            <a:r>
              <a:rPr lang="en-US" altLang="ko-KR" sz="1800" dirty="0">
                <a:sym typeface="Wingdings" panose="05000000000000000000" pitchFamily="2" charset="2"/>
              </a:rPr>
              <a:t>  v3.x )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마이너</a:t>
            </a:r>
            <a:r>
              <a:rPr lang="en-US" altLang="ko-KR" sz="1800" dirty="0"/>
              <a:t>(Minor) </a:t>
            </a:r>
            <a:r>
              <a:rPr lang="ko-KR" altLang="en-US" sz="1800" dirty="0"/>
              <a:t>업그레이드 </a:t>
            </a:r>
            <a:r>
              <a:rPr lang="en-US" altLang="ko-KR" sz="1800" dirty="0"/>
              <a:t>: </a:t>
            </a:r>
            <a:r>
              <a:rPr lang="ko-KR" altLang="en-US" sz="1800" dirty="0"/>
              <a:t>작은 변화 등을 적용했을 때 사용 </a:t>
            </a:r>
            <a:r>
              <a:rPr lang="en-US" altLang="ko-KR" sz="1800" dirty="0"/>
              <a:t>( v.2.3 </a:t>
            </a:r>
            <a:r>
              <a:rPr lang="en-US" altLang="ko-KR" sz="1800" dirty="0">
                <a:sym typeface="Wingdings" panose="05000000000000000000" pitchFamily="2" charset="2"/>
              </a:rPr>
              <a:t> v.2.4 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ko-KR" altLang="en-US" sz="1800" dirty="0" err="1"/>
              <a:t>메인터넌스</a:t>
            </a:r>
            <a:r>
              <a:rPr lang="en-US" altLang="ko-KR" sz="1800" dirty="0"/>
              <a:t>(Maintenance) : </a:t>
            </a:r>
            <a:r>
              <a:rPr lang="ko-KR" altLang="en-US" sz="1800" dirty="0"/>
              <a:t>버전으로 버그나 유지보수 등 작은 수정이 적용 했을 때 사용 </a:t>
            </a:r>
            <a:r>
              <a:rPr lang="en-US" altLang="ko-KR" sz="1800" dirty="0"/>
              <a:t>(10.15.0 </a:t>
            </a:r>
            <a:r>
              <a:rPr lang="en-US" altLang="ko-KR" sz="1800" dirty="0">
                <a:sym typeface="Wingdings" panose="05000000000000000000" pitchFamily="2" charset="2"/>
              </a:rPr>
              <a:t> 10.15.1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특정 </a:t>
            </a:r>
            <a:r>
              <a:rPr lang="ko-KR" altLang="en-US" sz="1800" dirty="0" err="1"/>
              <a:t>커밋에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포스트잇</a:t>
            </a:r>
            <a:r>
              <a:rPr lang="ko-KR" altLang="en-US" sz="1800" dirty="0"/>
              <a:t> 붙이기 </a:t>
            </a:r>
            <a:r>
              <a:rPr lang="en-US" altLang="ko-KR" sz="1800" dirty="0"/>
              <a:t>– </a:t>
            </a:r>
            <a:r>
              <a:rPr lang="ko-KR" altLang="en-US" sz="1800" dirty="0"/>
              <a:t>태그</a:t>
            </a:r>
            <a:r>
              <a:rPr lang="en-US" altLang="ko-KR" sz="1800" dirty="0"/>
              <a:t>(tag)</a:t>
            </a:r>
          </a:p>
          <a:p>
            <a:pPr marL="0" indent="0">
              <a:buNone/>
            </a:pPr>
            <a:r>
              <a:rPr lang="ko-KR" altLang="en-US" sz="1800" dirty="0"/>
              <a:t>프로그램을 출시하는 것을 </a:t>
            </a:r>
            <a:r>
              <a:rPr lang="en-US" altLang="ko-KR" sz="1800" dirty="0"/>
              <a:t>‘</a:t>
            </a:r>
            <a:r>
              <a:rPr lang="ko-KR" altLang="en-US" sz="1800" dirty="0"/>
              <a:t>릴리즈</a:t>
            </a:r>
            <a:r>
              <a:rPr lang="en-US" altLang="ko-KR" sz="1800" dirty="0"/>
              <a:t>(Release)’</a:t>
            </a:r>
            <a:r>
              <a:rPr lang="ko-KR" altLang="en-US" sz="1800" dirty="0"/>
              <a:t>라고 한다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ko-KR" altLang="en-US" sz="1800" dirty="0"/>
              <a:t>병합을 마친 </a:t>
            </a:r>
            <a:r>
              <a:rPr lang="en-US" altLang="ko-KR" sz="1800" dirty="0"/>
              <a:t>[master]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서버에 올려서 사용자들 쓸 수 있도록 배포하고</a:t>
            </a:r>
            <a:r>
              <a:rPr lang="en-US" altLang="ko-KR" sz="1800" dirty="0"/>
              <a:t>, </a:t>
            </a:r>
            <a:r>
              <a:rPr lang="ko-KR" altLang="en-US" sz="1800" dirty="0"/>
              <a:t>버전을 기록하는 것을 </a:t>
            </a:r>
            <a:r>
              <a:rPr lang="en-US" altLang="ko-KR" sz="1800" dirty="0"/>
              <a:t>‘</a:t>
            </a:r>
            <a:r>
              <a:rPr lang="ko-KR" altLang="en-US" sz="1800" dirty="0"/>
              <a:t>태그</a:t>
            </a:r>
            <a:r>
              <a:rPr lang="en-US" altLang="ko-KR" sz="1800" dirty="0"/>
              <a:t>’</a:t>
            </a:r>
            <a:r>
              <a:rPr lang="ko-KR" altLang="en-US" sz="1800" dirty="0"/>
              <a:t>를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통해 간단하게 표시할 수 있다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8452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릴리즈</a:t>
            </a:r>
            <a:r>
              <a:rPr lang="en-US" altLang="ko-KR" dirty="0"/>
              <a:t>(release)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태그</a:t>
            </a:r>
            <a:r>
              <a:rPr lang="en-US" altLang="ko-KR" sz="1800" dirty="0"/>
              <a:t>(tag)</a:t>
            </a:r>
            <a:r>
              <a:rPr lang="ko-KR" altLang="en-US" sz="1800" dirty="0"/>
              <a:t>사용 실습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D8EACB-7606-49CF-84BA-55044411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09" y="1590675"/>
            <a:ext cx="6323670" cy="4505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1128A1-7546-429C-ACD9-B0EDC8D71DBB}"/>
              </a:ext>
            </a:extLst>
          </p:cNvPr>
          <p:cNvSpPr txBox="1"/>
          <p:nvPr/>
        </p:nvSpPr>
        <p:spPr>
          <a:xfrm>
            <a:off x="7315200" y="1590675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상단에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태그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]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클릭하여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태그 이름을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v.1.0.0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을 입력 후 추가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8679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릴리즈</a:t>
            </a:r>
            <a:r>
              <a:rPr lang="en-US" altLang="ko-KR" dirty="0"/>
              <a:t>(release)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51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태그</a:t>
            </a:r>
            <a:r>
              <a:rPr lang="en-US" altLang="ko-KR" sz="1800" dirty="0"/>
              <a:t>(tag)</a:t>
            </a:r>
            <a:r>
              <a:rPr lang="ko-KR" altLang="en-US" sz="1800" dirty="0"/>
              <a:t>사용 실습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1128A1-7546-429C-ACD9-B0EDC8D71DBB}"/>
              </a:ext>
            </a:extLst>
          </p:cNvPr>
          <p:cNvSpPr txBox="1"/>
          <p:nvPr/>
        </p:nvSpPr>
        <p:spPr>
          <a:xfrm>
            <a:off x="7315200" y="1590675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라벨 옆에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[v.1.0.0]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라벨 확인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E625E7-3976-42AA-9B48-C3C385B48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88" y="1590675"/>
            <a:ext cx="6321238" cy="45093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73164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릴리즈</a:t>
            </a:r>
            <a:r>
              <a:rPr lang="en-US" altLang="ko-KR" dirty="0"/>
              <a:t>(release)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52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태그</a:t>
            </a:r>
            <a:r>
              <a:rPr lang="en-US" altLang="ko-KR" sz="1800" dirty="0"/>
              <a:t>(tag)</a:t>
            </a:r>
            <a:r>
              <a:rPr lang="ko-KR" altLang="en-US" sz="1800" dirty="0"/>
              <a:t>사용 실습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1128A1-7546-429C-ACD9-B0EDC8D71DBB}"/>
              </a:ext>
            </a:extLst>
          </p:cNvPr>
          <p:cNvSpPr txBox="1"/>
          <p:nvPr/>
        </p:nvSpPr>
        <p:spPr>
          <a:xfrm>
            <a:off x="7315200" y="1590675"/>
            <a:ext cx="37608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[master]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[v.1.0.0]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라벨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원격저장소에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Push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하기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E6BFBE-4F0B-4DEB-ADF2-7ACE96AB0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54" y="1590675"/>
            <a:ext cx="6299884" cy="4495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55290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릴리즈</a:t>
            </a:r>
            <a:r>
              <a:rPr lang="en-US" altLang="ko-KR" dirty="0"/>
              <a:t>(release)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53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079878C-00BA-4F04-A6FB-C5D7D2D29DC6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5144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태그</a:t>
            </a:r>
            <a:r>
              <a:rPr lang="en-US" altLang="ko-KR" sz="1800" dirty="0"/>
              <a:t>(tag)</a:t>
            </a:r>
            <a:r>
              <a:rPr lang="ko-KR" altLang="en-US" sz="1800" dirty="0"/>
              <a:t>사용 실습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90436A-825B-4BF5-B0BF-DD0852738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6" y="1590675"/>
            <a:ext cx="5831281" cy="39528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14A03E-5E52-4AF5-A03B-76D94340D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149" y="1590675"/>
            <a:ext cx="3590925" cy="1990725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51C5542-6601-4023-BAB9-53D70FBA160F}"/>
              </a:ext>
            </a:extLst>
          </p:cNvPr>
          <p:cNvSpPr/>
          <p:nvPr/>
        </p:nvSpPr>
        <p:spPr>
          <a:xfrm>
            <a:off x="6963765" y="2278533"/>
            <a:ext cx="504825" cy="54292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7A14D3-4186-4D3E-8913-180CA2E4A195}"/>
              </a:ext>
            </a:extLst>
          </p:cNvPr>
          <p:cNvSpPr txBox="1"/>
          <p:nvPr/>
        </p:nvSpPr>
        <p:spPr>
          <a:xfrm>
            <a:off x="7216177" y="3713377"/>
            <a:ext cx="405189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의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</a:t>
            </a:r>
            <a:r>
              <a:rPr lang="en-US" altLang="ko-KR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iTshirt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]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원격저장소에서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태그를 누른 이후 태그 된 파일을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압축파일로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내려받을수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있다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72273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CA034-6693-417F-9C39-21E66B49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C8A55-6E54-457F-ADF8-CC0D4E187917}"/>
              </a:ext>
            </a:extLst>
          </p:cNvPr>
          <p:cNvSpPr txBox="1"/>
          <p:nvPr/>
        </p:nvSpPr>
        <p:spPr>
          <a:xfrm>
            <a:off x="801872" y="2921168"/>
            <a:ext cx="10588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수고하셨습니다</a:t>
            </a:r>
            <a:r>
              <a:rPr lang="en-US" altLang="ko-KR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sz="6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442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3980</TotalTime>
  <Words>1989</Words>
  <Application>Microsoft Office PowerPoint</Application>
  <PresentationFormat>와이드스크린</PresentationFormat>
  <Paragraphs>398</Paragraphs>
  <Slides>54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8" baseType="lpstr">
      <vt:lpstr>넥슨Lv2고딕 Medium</vt:lpstr>
      <vt:lpstr>맑은 고딕</vt:lpstr>
      <vt:lpstr>Arial</vt:lpstr>
      <vt:lpstr>Office 테마</vt:lpstr>
      <vt:lpstr>여러 명이 함께 Git으로 협업하기  Chapter 3</vt:lpstr>
      <vt:lpstr>원격저장소에서 협업하기 : 브랜치(Branch)</vt:lpstr>
      <vt:lpstr>원격저장소에서 협업하기 : 브랜치(Branch)</vt:lpstr>
      <vt:lpstr>원격저장소에서 협업하기 : 브랜치(Branch)</vt:lpstr>
      <vt:lpstr>브랜치 실습 기본 : 만들고, 이동한다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원격저장소에서 협업하기 : 브랜치(Branch)</vt:lpstr>
      <vt:lpstr>브랜치와 브랜치를 합치기 : 병합(merge)</vt:lpstr>
      <vt:lpstr>브랜치와 브랜치를 합치기 : 병합(merge)</vt:lpstr>
      <vt:lpstr>브랜치와 브랜치를 합치기 : 병합(merge)</vt:lpstr>
      <vt:lpstr>브랜치와 브랜치를 합치기 : 병합(merge)</vt:lpstr>
      <vt:lpstr>브랜치와 브랜치를 합치기 : 병합(merge)</vt:lpstr>
      <vt:lpstr>브랜치와 브랜치를 합치기 : 병합(merge)</vt:lpstr>
      <vt:lpstr>브랜치와 브랜치를 합치기 : 병합(merge)</vt:lpstr>
      <vt:lpstr>브랜치와 브랜치를 합치기 : 병합(merge)</vt:lpstr>
      <vt:lpstr>브랜치와 브랜치를 합치기 : 병합(merge)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충돌(Conflict) 해결하기</vt:lpstr>
      <vt:lpstr>브랜치를 합치는 예의바른 방법: 풀 리퀘스트</vt:lpstr>
      <vt:lpstr>브랜치를 합치는 예의바른 방법: 풀 리퀘스트</vt:lpstr>
      <vt:lpstr>브랜치를 합치는 예의바른 방법: 풀 리퀘스트</vt:lpstr>
      <vt:lpstr>브랜치를 합치는 예의바른 방법: 풀 리퀘스트</vt:lpstr>
      <vt:lpstr>릴리즈(release)</vt:lpstr>
      <vt:lpstr>릴리즈(release)</vt:lpstr>
      <vt:lpstr>릴리즈(release)</vt:lpstr>
      <vt:lpstr>릴리즈(release)</vt:lpstr>
      <vt:lpstr>릴리즈(release)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Kwak TaeKeun</cp:lastModifiedBy>
  <cp:revision>22</cp:revision>
  <dcterms:modified xsi:type="dcterms:W3CDTF">2022-01-10T07:53:52Z</dcterms:modified>
</cp:coreProperties>
</file>