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9" r:id="rId4"/>
    <p:sldId id="260" r:id="rId5"/>
    <p:sldId id="268" r:id="rId6"/>
    <p:sldId id="267" r:id="rId7"/>
    <p:sldId id="270" r:id="rId8"/>
    <p:sldId id="279" r:id="rId9"/>
    <p:sldId id="277" r:id="rId10"/>
    <p:sldId id="271" r:id="rId11"/>
    <p:sldId id="280" r:id="rId12"/>
    <p:sldId id="272" r:id="rId13"/>
    <p:sldId id="26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E7E"/>
    <a:srgbClr val="FFC1AD"/>
    <a:srgbClr val="B2B2AF"/>
    <a:srgbClr val="4C4747"/>
    <a:srgbClr val="FEC9B8"/>
    <a:srgbClr val="FD6231"/>
    <a:srgbClr val="C8E4E5"/>
    <a:srgbClr val="C4C8C9"/>
    <a:srgbClr val="B1B3B2"/>
    <a:srgbClr val="C6C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9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2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7090A-0BA8-402B-82E2-B34FF0AEC07C}" type="datetimeFigureOut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1FB7E-CE80-449C-9386-281FC434DD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83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2B12-A08C-481D-84A5-94A48C17F35A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28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4DDA-A85A-4947-820D-1E1EDA216042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94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E62B4-0123-4BE5-9F57-984E9981C42F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27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AB8D0-6BF6-4EE8-8349-E90EFAB711EA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4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27A5-76E1-4D6A-AC43-73073616A252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3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25B2-F3E4-424C-97DF-96D45F85F1F3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29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935A-BD48-4E81-BB6A-30CD8194013D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92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1E7FA-D9BA-4E26-92F0-B7A46D7F4C50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8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C85A6-C75C-4917-AD11-1883EFE2F1F6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28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FC813-B366-4F7D-AA70-973971741D25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47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DB34-4417-4FF3-9CF5-0A061A590A35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9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E4639-195E-40CD-93DC-7046D9823FED}" type="datetime1">
              <a:rPr lang="ko-KR" altLang="en-US" smtClean="0"/>
              <a:t>2021-12-20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6F3AB-4781-460A-977E-172C164150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7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1041009" y="970671"/>
            <a:ext cx="3212513" cy="3341753"/>
            <a:chOff x="1041009" y="970671"/>
            <a:chExt cx="3212513" cy="3341753"/>
          </a:xfrm>
        </p:grpSpPr>
        <p:sp>
          <p:nvSpPr>
            <p:cNvPr id="18" name="타원 17"/>
            <p:cNvSpPr/>
            <p:nvPr/>
          </p:nvSpPr>
          <p:spPr>
            <a:xfrm>
              <a:off x="1041009" y="970671"/>
              <a:ext cx="1448973" cy="1448973"/>
            </a:xfrm>
            <a:prstGeom prst="ellipse">
              <a:avLst/>
            </a:prstGeom>
            <a:solidFill>
              <a:srgbClr val="C8E4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1323533" y="1382435"/>
              <a:ext cx="2929989" cy="2929989"/>
            </a:xfrm>
            <a:prstGeom prst="ellipse">
              <a:avLst/>
            </a:prstGeom>
            <a:solidFill>
              <a:srgbClr val="FE9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103936" y="2419644"/>
            <a:ext cx="7669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Git</a:t>
            </a:r>
            <a:r>
              <a:rPr lang="ko-KR" altLang="en-US" sz="7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이란 무엇인가</a:t>
            </a:r>
            <a:r>
              <a:rPr lang="en-US" altLang="ko-KR" sz="7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72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984104"/>
              </p:ext>
            </p:extLst>
          </p:nvPr>
        </p:nvGraphicFramePr>
        <p:xfrm>
          <a:off x="779975" y="5122854"/>
          <a:ext cx="439693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762">
                  <a:extLst>
                    <a:ext uri="{9D8B030D-6E8A-4147-A177-3AD203B41FA5}">
                      <a16:colId xmlns:a16="http://schemas.microsoft.com/office/drawing/2014/main" val="56462378"/>
                    </a:ext>
                  </a:extLst>
                </a:gridCol>
                <a:gridCol w="3768173">
                  <a:extLst>
                    <a:ext uri="{9D8B030D-6E8A-4147-A177-3AD203B41FA5}">
                      <a16:colId xmlns:a16="http://schemas.microsoft.com/office/drawing/2014/main" val="3468396150"/>
                    </a:ext>
                  </a:extLst>
                </a:gridCol>
              </a:tblGrid>
              <a:tr h="2993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일시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2021</a:t>
                      </a:r>
                      <a:r>
                        <a:rPr lang="ko-KR" altLang="en-US" sz="1400" b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년</a:t>
                      </a:r>
                      <a:r>
                        <a:rPr lang="ko-KR" altLang="en-US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 </a:t>
                      </a:r>
                      <a:r>
                        <a:rPr lang="en-US" altLang="ko-KR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12</a:t>
                      </a:r>
                      <a:r>
                        <a:rPr lang="ko-KR" altLang="en-US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월 </a:t>
                      </a:r>
                      <a:r>
                        <a:rPr lang="en-US" altLang="ko-KR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17</a:t>
                      </a:r>
                      <a:r>
                        <a:rPr lang="ko-KR" altLang="en-US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일</a:t>
                      </a:r>
                      <a:endParaRPr lang="ko-KR" altLang="en-US" sz="1400" b="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25652"/>
                  </a:ext>
                </a:extLst>
              </a:tr>
              <a:tr h="2993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장소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Zoom(</a:t>
                      </a:r>
                      <a:r>
                        <a:rPr lang="ko-KR" altLang="en-US" sz="140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온라인</a:t>
                      </a:r>
                      <a:r>
                        <a:rPr lang="en-US" altLang="ko-KR" sz="140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)</a:t>
                      </a:r>
                      <a:endParaRPr lang="ko-KR" altLang="en-US" sz="140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962243"/>
                  </a:ext>
                </a:extLst>
              </a:tr>
              <a:tr h="299373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887642"/>
                  </a:ext>
                </a:extLst>
              </a:tr>
            </a:tbl>
          </a:graphicData>
        </a:graphic>
      </p:graphicFrame>
      <p:cxnSp>
        <p:nvCxnSpPr>
          <p:cNvPr id="22" name="직선 연결선 21"/>
          <p:cNvCxnSpPr/>
          <p:nvPr/>
        </p:nvCxnSpPr>
        <p:spPr>
          <a:xfrm>
            <a:off x="0" y="5258971"/>
            <a:ext cx="583809" cy="0"/>
          </a:xfrm>
          <a:prstGeom prst="line">
            <a:avLst/>
          </a:prstGeom>
          <a:ln w="28575">
            <a:solidFill>
              <a:srgbClr val="4C47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0F7BB7-7FDF-4FAB-BA9E-C492C36E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687EE-5DB8-4F71-B362-96E37F31E8E4}"/>
              </a:ext>
            </a:extLst>
          </p:cNvPr>
          <p:cNvSpPr txBox="1"/>
          <p:nvPr/>
        </p:nvSpPr>
        <p:spPr>
          <a:xfrm>
            <a:off x="8768566" y="5852588"/>
            <a:ext cx="30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 err="1"/>
              <a:t>DamoaTech</a:t>
            </a:r>
            <a:r>
              <a:rPr lang="en-US" altLang="ko-KR" dirty="0"/>
              <a:t> </a:t>
            </a:r>
            <a:r>
              <a:rPr lang="ko-KR" altLang="en-US" dirty="0"/>
              <a:t>곽태근 연구원</a:t>
            </a:r>
          </a:p>
        </p:txBody>
      </p:sp>
    </p:spTree>
    <p:extLst>
      <p:ext uri="{BB962C8B-B14F-4D97-AF65-F5344CB8AC3E}">
        <p14:creationId xmlns:p14="http://schemas.microsoft.com/office/powerpoint/2010/main" val="345651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40244" y="1473703"/>
            <a:ext cx="41296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  <a:endParaRPr lang="ko-KR" altLang="en-US" sz="6000" dirty="0">
              <a:ln>
                <a:solidFill>
                  <a:srgbClr val="FE9E7E">
                    <a:alpha val="20000"/>
                  </a:srgbClr>
                </a:solidFill>
              </a:ln>
              <a:solidFill>
                <a:srgbClr val="FE9E7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0669901" y="1981535"/>
            <a:ext cx="1522099" cy="0"/>
          </a:xfrm>
          <a:prstGeom prst="line">
            <a:avLst/>
          </a:prstGeom>
          <a:ln w="28575">
            <a:solidFill>
              <a:srgbClr val="4C47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-492369" y="-520504"/>
            <a:ext cx="13344156" cy="8128782"/>
            <a:chOff x="-492369" y="-520504"/>
            <a:chExt cx="13344156" cy="8128782"/>
          </a:xfrm>
          <a:solidFill>
            <a:srgbClr val="C8E4E5">
              <a:alpha val="60000"/>
            </a:srgbClr>
          </a:solidFill>
        </p:grpSpPr>
        <p:sp>
          <p:nvSpPr>
            <p:cNvPr id="6" name="타원 5"/>
            <p:cNvSpPr/>
            <p:nvPr/>
          </p:nvSpPr>
          <p:spPr>
            <a:xfrm>
              <a:off x="-492369" y="-520504"/>
              <a:ext cx="2841674" cy="28416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10010113" y="4766604"/>
              <a:ext cx="2841674" cy="28416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934695" y="2646582"/>
            <a:ext cx="3754873" cy="1200329"/>
            <a:chOff x="1012875" y="3615397"/>
            <a:chExt cx="3754873" cy="1200329"/>
          </a:xfrm>
        </p:grpSpPr>
        <p:sp>
          <p:nvSpPr>
            <p:cNvPr id="12" name="TextBox 11"/>
            <p:cNvSpPr txBox="1"/>
            <p:nvPr/>
          </p:nvSpPr>
          <p:spPr>
            <a:xfrm>
              <a:off x="1012875" y="3615397"/>
              <a:ext cx="96372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01</a:t>
              </a:r>
              <a:endParaRPr lang="ko-KR" altLang="en-US" sz="54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76599" y="3877007"/>
              <a:ext cx="27911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버전 </a:t>
              </a:r>
              <a:r>
                <a:rPr lang="ko-KR" altLang="en-US" sz="2000" dirty="0" err="1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관리란</a:t>
              </a:r>
              <a:r>
                <a:rPr lang="ko-KR" altLang="en-US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무엇인가</a:t>
              </a:r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2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004734" y="453872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932378" y="4447076"/>
            <a:ext cx="3225882" cy="938719"/>
            <a:chOff x="1012875" y="3615397"/>
            <a:chExt cx="3225882" cy="938719"/>
          </a:xfrm>
        </p:grpSpPr>
        <p:sp>
          <p:nvSpPr>
            <p:cNvPr id="20" name="TextBox 19"/>
            <p:cNvSpPr txBox="1"/>
            <p:nvPr/>
          </p:nvSpPr>
          <p:spPr>
            <a:xfrm>
              <a:off x="1012875" y="3615397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03</a:t>
              </a:r>
              <a:endParaRPr lang="ko-KR" altLang="en-US" sz="54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76599" y="3877007"/>
              <a:ext cx="2262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이란 무엇인가</a:t>
              </a:r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2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004734" y="427711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107678" y="4236862"/>
              <a:ext cx="10021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Git</a:t>
              </a:r>
              <a:r>
                <a:rPr lang="ko-KR" altLang="en-US" sz="1200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의 역사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928468" y="3531440"/>
            <a:ext cx="3661899" cy="1200329"/>
            <a:chOff x="1012875" y="3615397"/>
            <a:chExt cx="3661899" cy="1200329"/>
          </a:xfrm>
        </p:grpSpPr>
        <p:sp>
          <p:nvSpPr>
            <p:cNvPr id="25" name="TextBox 24"/>
            <p:cNvSpPr txBox="1"/>
            <p:nvPr/>
          </p:nvSpPr>
          <p:spPr>
            <a:xfrm>
              <a:off x="1012875" y="3615397"/>
              <a:ext cx="96372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02</a:t>
              </a:r>
              <a:endParaRPr lang="ko-KR" altLang="en-US" sz="54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76599" y="3877007"/>
              <a:ext cx="26981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를</a:t>
              </a:r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왜 사용하는가</a:t>
              </a:r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2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004734" y="427711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04734" y="453872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932378" y="5338294"/>
            <a:ext cx="3714798" cy="1200329"/>
            <a:chOff x="1012875" y="3615397"/>
            <a:chExt cx="3714798" cy="1200329"/>
          </a:xfrm>
        </p:grpSpPr>
        <p:sp>
          <p:nvSpPr>
            <p:cNvPr id="30" name="TextBox 29"/>
            <p:cNvSpPr txBox="1"/>
            <p:nvPr/>
          </p:nvSpPr>
          <p:spPr>
            <a:xfrm>
              <a:off x="1012875" y="3615397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04</a:t>
              </a:r>
              <a:endParaRPr lang="ko-KR" altLang="en-US" sz="54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76599" y="3877007"/>
              <a:ext cx="27510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GitHub</a:t>
              </a:r>
              <a:r>
                <a:rPr lang="ko-KR" altLang="en-US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이란 무엇인가</a:t>
              </a:r>
              <a:r>
                <a:rPr lang="en-US" altLang="ko-KR" sz="20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2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004734" y="453872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3129C97-12A3-4A5D-9483-475E06719465}"/>
              </a:ext>
            </a:extLst>
          </p:cNvPr>
          <p:cNvSpPr txBox="1"/>
          <p:nvPr/>
        </p:nvSpPr>
        <p:spPr>
          <a:xfrm>
            <a:off x="1890777" y="3254441"/>
            <a:ext cx="1377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 관리의 정의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7BE621-014B-4C07-AE9D-55AB8002BFA7}"/>
              </a:ext>
            </a:extLst>
          </p:cNvPr>
          <p:cNvSpPr txBox="1"/>
          <p:nvPr/>
        </p:nvSpPr>
        <p:spPr>
          <a:xfrm>
            <a:off x="1854227" y="4170077"/>
            <a:ext cx="1904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 관리가 왜 필요한가</a:t>
            </a:r>
            <a:r>
              <a:rPr lang="en-US" altLang="ko-KR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?</a:t>
            </a:r>
            <a:endParaRPr lang="ko-KR" altLang="en-US" sz="1200" dirty="0">
              <a:ln>
                <a:solidFill>
                  <a:srgbClr val="FE9E7E">
                    <a:alpha val="20000"/>
                  </a:srgbClr>
                </a:solidFill>
              </a:ln>
              <a:solidFill>
                <a:srgbClr val="FE9E7E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4306C4-773D-42C8-AB23-6BDD8D3320B1}"/>
              </a:ext>
            </a:extLst>
          </p:cNvPr>
          <p:cNvSpPr txBox="1"/>
          <p:nvPr/>
        </p:nvSpPr>
        <p:spPr>
          <a:xfrm>
            <a:off x="1847035" y="5063544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의 장점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824B19-38BF-4434-B224-18B67FEE00CB}"/>
              </a:ext>
            </a:extLst>
          </p:cNvPr>
          <p:cNvSpPr txBox="1"/>
          <p:nvPr/>
        </p:nvSpPr>
        <p:spPr>
          <a:xfrm>
            <a:off x="1860174" y="6000012"/>
            <a:ext cx="1813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 GitLab </a:t>
            </a:r>
            <a:r>
              <a:rPr lang="ko-KR" altLang="en-US" sz="12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차이점</a:t>
            </a:r>
            <a:endParaRPr lang="ko-KR" altLang="en-US" sz="12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30DC5A-2B10-4DB4-8888-E4F25670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18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846278" y="2767280"/>
            <a:ext cx="84994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FFC1A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Git</a:t>
            </a:r>
            <a:r>
              <a:rPr lang="ko-KR" altLang="en-US" sz="8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이란 무엇인가</a:t>
            </a:r>
            <a:r>
              <a:rPr lang="en-US" altLang="ko-KR" sz="8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80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724F5-8860-44B8-9926-11B74F6D2670}"/>
              </a:ext>
            </a:extLst>
          </p:cNvPr>
          <p:cNvSpPr txBox="1"/>
          <p:nvPr/>
        </p:nvSpPr>
        <p:spPr>
          <a:xfrm>
            <a:off x="3163265" y="4334933"/>
            <a:ext cx="8718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FFC1AD"/>
                </a:solidFill>
              </a:rPr>
              <a:t> </a:t>
            </a:r>
            <a:r>
              <a:rPr lang="ko-KR" altLang="en-US" sz="4000" dirty="0"/>
              <a:t>코드</a:t>
            </a:r>
            <a:r>
              <a:rPr lang="ko-KR" altLang="en-US" sz="4000" dirty="0">
                <a:solidFill>
                  <a:srgbClr val="FF0000"/>
                </a:solidFill>
              </a:rPr>
              <a:t> 버전 관리 </a:t>
            </a:r>
            <a:r>
              <a:rPr lang="ko-KR" altLang="en-US" sz="4000" dirty="0"/>
              <a:t>해주는 프로그램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492772-4C28-47FA-9904-7814C150F9E1}"/>
              </a:ext>
            </a:extLst>
          </p:cNvPr>
          <p:cNvCxnSpPr/>
          <p:nvPr/>
        </p:nvCxnSpPr>
        <p:spPr>
          <a:xfrm>
            <a:off x="1846278" y="3996267"/>
            <a:ext cx="14387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D058414-C45D-40D9-82DB-8D551B910082}"/>
              </a:ext>
            </a:extLst>
          </p:cNvPr>
          <p:cNvSpPr/>
          <p:nvPr/>
        </p:nvSpPr>
        <p:spPr>
          <a:xfrm>
            <a:off x="2282732" y="4474387"/>
            <a:ext cx="880533" cy="428977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C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88D820B-FE99-4010-A07E-72A8B422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4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1059154" y="707378"/>
            <a:ext cx="4355680" cy="954107"/>
            <a:chOff x="440175" y="1194564"/>
            <a:chExt cx="4355680" cy="954107"/>
          </a:xfrm>
        </p:grpSpPr>
        <p:sp>
          <p:nvSpPr>
            <p:cNvPr id="10" name="TextBox 9"/>
            <p:cNvSpPr txBox="1"/>
            <p:nvPr/>
          </p:nvSpPr>
          <p:spPr>
            <a:xfrm>
              <a:off x="440175" y="1194564"/>
              <a:ext cx="43556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버전 </a:t>
              </a:r>
              <a:r>
                <a:rPr lang="ko-KR" altLang="en-US" sz="3200" dirty="0" err="1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관리란</a:t>
              </a:r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무엇인가</a:t>
              </a:r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0175" y="1779339"/>
              <a:ext cx="1733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버전 관리의 정의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C4B503-4F63-4A09-B63E-EA32EF2FD53C}"/>
              </a:ext>
            </a:extLst>
          </p:cNvPr>
          <p:cNvSpPr txBox="1"/>
          <p:nvPr/>
        </p:nvSpPr>
        <p:spPr>
          <a:xfrm>
            <a:off x="1038790" y="1876928"/>
            <a:ext cx="10073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관리란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?</a:t>
            </a:r>
          </a:p>
          <a:p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동일한 정보에 대한 여러 버전을 관리하는 것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내가 원하는 시점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으로 이동할 수 있게 해 주는 것이 버전 관리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  <a:p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ko-KR" altLang="en-US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E335881-1DD3-48FE-8ACC-DCE967CC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203" y="3619099"/>
            <a:ext cx="4623819" cy="260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03388A-2A43-4820-B63D-7D8E7D6EB776}"/>
              </a:ext>
            </a:extLst>
          </p:cNvPr>
          <p:cNvSpPr txBox="1"/>
          <p:nvPr/>
        </p:nvSpPr>
        <p:spPr>
          <a:xfrm>
            <a:off x="1628157" y="6219997"/>
            <a:ext cx="3012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&lt;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게임 세이브 포인트를 이용한 예시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&gt;</a:t>
            </a:r>
            <a:endParaRPr lang="ko-KR" altLang="en-US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1DC92-FAA4-4743-8B5F-A73B1D87BFD9}"/>
              </a:ext>
            </a:extLst>
          </p:cNvPr>
          <p:cNvSpPr txBox="1"/>
          <p:nvPr/>
        </p:nvSpPr>
        <p:spPr>
          <a:xfrm>
            <a:off x="5777756" y="4453784"/>
            <a:ext cx="577462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/>
              <a:t> </a:t>
            </a:r>
            <a:r>
              <a:rPr lang="ko-KR" altLang="en-US" sz="4000" dirty="0">
                <a:solidFill>
                  <a:srgbClr val="FF0000"/>
                </a:solidFill>
              </a:rPr>
              <a:t>버전 관리 </a:t>
            </a:r>
            <a:r>
              <a:rPr lang="en-US" altLang="ko-KR" sz="4000" dirty="0">
                <a:solidFill>
                  <a:srgbClr val="FF0000"/>
                </a:solidFill>
              </a:rPr>
              <a:t>= Save Point </a:t>
            </a:r>
            <a:endParaRPr lang="ko-KR" altLang="en-US" sz="40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A7C3CC-239C-4974-80E7-4A30E84D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3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1059154" y="707378"/>
            <a:ext cx="4209807" cy="954107"/>
            <a:chOff x="440175" y="1194564"/>
            <a:chExt cx="4209807" cy="954107"/>
          </a:xfrm>
        </p:grpSpPr>
        <p:sp>
          <p:nvSpPr>
            <p:cNvPr id="10" name="TextBox 9"/>
            <p:cNvSpPr txBox="1"/>
            <p:nvPr/>
          </p:nvSpPr>
          <p:spPr>
            <a:xfrm>
              <a:off x="440175" y="1194564"/>
              <a:ext cx="42098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를 왜 사용하는가</a:t>
              </a:r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0175" y="1779339"/>
              <a:ext cx="251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버전 관리가 왜 필요한가</a:t>
              </a:r>
              <a:r>
                <a:rPr lang="en-US" altLang="ko-KR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?</a:t>
              </a:r>
              <a:endPara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pic>
        <p:nvPicPr>
          <p:cNvPr id="2054" name="Picture 6" descr="팀 작업의 실패 사례">
            <a:extLst>
              <a:ext uri="{FF2B5EF4-FFF2-40B4-BE49-F238E27FC236}">
                <a16:creationId xmlns:a16="http://schemas.microsoft.com/office/drawing/2014/main" id="{160A5BAC-CF98-4DA2-A356-64AB7FB94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548" y="2250994"/>
            <a:ext cx="4932064" cy="222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9B8F6F-8C05-4222-AE52-527B5DDBC504}"/>
              </a:ext>
            </a:extLst>
          </p:cNvPr>
          <p:cNvSpPr txBox="1"/>
          <p:nvPr/>
        </p:nvSpPr>
        <p:spPr>
          <a:xfrm>
            <a:off x="3040732" y="5442736"/>
            <a:ext cx="5579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여러 명이 공유한 파일을 동시에 편집을 하여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algn="ctr"/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내용을 지워버리는 경우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5C3D79-F8CC-4C7C-8159-43F30C85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26" name="Picture 2" descr="Git을 이용한 버전 관리 【Git의 기본】 | 누구나 쉽게 이해할 수 있는 Git 입문~버전 관리를 완벽하게 이용해보자~ |  Backlog">
            <a:extLst>
              <a:ext uri="{FF2B5EF4-FFF2-40B4-BE49-F238E27FC236}">
                <a16:creationId xmlns:a16="http://schemas.microsoft.com/office/drawing/2014/main" id="{D109961C-9660-4C57-B671-2EBC2446B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304" y="2262902"/>
            <a:ext cx="5010150" cy="220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91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1059154" y="707378"/>
            <a:ext cx="3510898" cy="954107"/>
            <a:chOff x="440175" y="1194564"/>
            <a:chExt cx="3510898" cy="954107"/>
          </a:xfrm>
        </p:grpSpPr>
        <p:sp>
          <p:nvSpPr>
            <p:cNvPr id="10" name="TextBox 9"/>
            <p:cNvSpPr txBox="1"/>
            <p:nvPr/>
          </p:nvSpPr>
          <p:spPr>
            <a:xfrm>
              <a:off x="440175" y="1194564"/>
              <a:ext cx="35108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이란 무엇인가</a:t>
              </a:r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0175" y="177933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9B8F6F-8C05-4222-AE52-527B5DDBC504}"/>
              </a:ext>
            </a:extLst>
          </p:cNvPr>
          <p:cNvSpPr txBox="1"/>
          <p:nvPr/>
        </p:nvSpPr>
        <p:spPr>
          <a:xfrm>
            <a:off x="6141930" y="1843949"/>
            <a:ext cx="55794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이란 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리누스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토르발스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가 개발한 분산형 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 관리 시스템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</a:t>
            </a:r>
          </a:p>
          <a:p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변경된 이력을 쉽게 확인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및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특정 시점으로 </a:t>
            </a:r>
            <a:endParaRPr lang="en-US" altLang="ko-KR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되돌아갈 수도 있다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2056" name="Picture 8" descr="팀 작업에 버전관리 활용하기">
            <a:extLst>
              <a:ext uri="{FF2B5EF4-FFF2-40B4-BE49-F238E27FC236}">
                <a16:creationId xmlns:a16="http://schemas.microsoft.com/office/drawing/2014/main" id="{D1D0B739-FDE0-45A6-91CD-803D7A68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78" y="2079366"/>
            <a:ext cx="46958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95752C-1E56-4E65-B85D-3A5F4470280F}"/>
              </a:ext>
            </a:extLst>
          </p:cNvPr>
          <p:cNvSpPr txBox="1"/>
          <p:nvPr/>
        </p:nvSpPr>
        <p:spPr>
          <a:xfrm>
            <a:off x="1059154" y="129215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의 장점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93FBB-B08D-4562-B89C-1D3FDF1DE8F4}"/>
              </a:ext>
            </a:extLst>
          </p:cNvPr>
          <p:cNvSpPr txBox="1"/>
          <p:nvPr/>
        </p:nvSpPr>
        <p:spPr>
          <a:xfrm>
            <a:off x="5754979" y="2746444"/>
            <a:ext cx="43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</a:t>
            </a:r>
            <a:endParaRPr lang="ko-KR" altLang="en-US" sz="2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957835-26BD-456A-985C-A5BA5D1C4799}"/>
              </a:ext>
            </a:extLst>
          </p:cNvPr>
          <p:cNvSpPr txBox="1"/>
          <p:nvPr/>
        </p:nvSpPr>
        <p:spPr>
          <a:xfrm>
            <a:off x="5754979" y="5169224"/>
            <a:ext cx="43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</a:t>
            </a:r>
            <a:endParaRPr lang="ko-KR" altLang="en-US" sz="2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A7634-2017-4D06-A1FE-1980E055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43CA28-2FA0-4791-9A12-4590765C4EE2}"/>
              </a:ext>
            </a:extLst>
          </p:cNvPr>
          <p:cNvSpPr/>
          <p:nvPr/>
        </p:nvSpPr>
        <p:spPr>
          <a:xfrm>
            <a:off x="6187856" y="3420344"/>
            <a:ext cx="4496185" cy="751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$git log –p –word –diff –&lt;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경로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&gt;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변경된 이력을 쉽게 확인</a:t>
            </a:r>
            <a:r>
              <a:rPr lang="en-US" altLang="ko-KR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endParaRPr lang="ko-KR" altLang="en-US" sz="20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372FF0-BDF4-49F0-A9CF-319AA61ACA55}"/>
              </a:ext>
            </a:extLst>
          </p:cNvPr>
          <p:cNvSpPr/>
          <p:nvPr/>
        </p:nvSpPr>
        <p:spPr>
          <a:xfrm>
            <a:off x="6187856" y="4284304"/>
            <a:ext cx="4496184" cy="751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$git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revert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&lt;commit&gt;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특정 시점으로 되돌아가기</a:t>
            </a:r>
            <a:r>
              <a:rPr lang="en-US" altLang="ko-KR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endParaRPr lang="ko-KR" altLang="en-US" sz="20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736BB3-19C0-498A-8663-2D943ED1C751}"/>
              </a:ext>
            </a:extLst>
          </p:cNvPr>
          <p:cNvSpPr txBox="1"/>
          <p:nvPr/>
        </p:nvSpPr>
        <p:spPr>
          <a:xfrm>
            <a:off x="6187858" y="5169224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공용으로 파일을 사용하면 업로드 할 때 </a:t>
            </a:r>
            <a:endParaRPr lang="en-US" altLang="ko-KR" sz="18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경고 메시지가 발생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74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원격 저장소와 로컬 저장소">
            <a:extLst>
              <a:ext uri="{FF2B5EF4-FFF2-40B4-BE49-F238E27FC236}">
                <a16:creationId xmlns:a16="http://schemas.microsoft.com/office/drawing/2014/main" id="{80C68171-9CCB-4813-A024-33F4A9C9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05" y="3241773"/>
            <a:ext cx="545782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그룹 12"/>
          <p:cNvGrpSpPr/>
          <p:nvPr/>
        </p:nvGrpSpPr>
        <p:grpSpPr>
          <a:xfrm>
            <a:off x="1059154" y="707378"/>
            <a:ext cx="3510898" cy="954107"/>
            <a:chOff x="440175" y="1194564"/>
            <a:chExt cx="3510898" cy="954107"/>
          </a:xfrm>
        </p:grpSpPr>
        <p:sp>
          <p:nvSpPr>
            <p:cNvPr id="10" name="TextBox 9"/>
            <p:cNvSpPr txBox="1"/>
            <p:nvPr/>
          </p:nvSpPr>
          <p:spPr>
            <a:xfrm>
              <a:off x="440175" y="1194564"/>
              <a:ext cx="35108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이란 무엇인가</a:t>
              </a:r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0175" y="177933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381AB5C-8C83-46AA-B980-904B98682DA6}"/>
              </a:ext>
            </a:extLst>
          </p:cNvPr>
          <p:cNvSpPr txBox="1"/>
          <p:nvPr/>
        </p:nvSpPr>
        <p:spPr>
          <a:xfrm>
            <a:off x="1059154" y="129215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의 장점</a:t>
            </a:r>
          </a:p>
        </p:txBody>
      </p:sp>
      <p:pic>
        <p:nvPicPr>
          <p:cNvPr id="6146" name="Picture 2" descr="파일과 폴더 이력을 관리하는 저장소">
            <a:extLst>
              <a:ext uri="{FF2B5EF4-FFF2-40B4-BE49-F238E27FC236}">
                <a16:creationId xmlns:a16="http://schemas.microsoft.com/office/drawing/2014/main" id="{B01D1839-7E92-4EB3-A868-CC2EF4F49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18" y="1909969"/>
            <a:ext cx="347662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E07D3D-933E-4805-82E6-4343F923E211}"/>
              </a:ext>
            </a:extLst>
          </p:cNvPr>
          <p:cNvSpPr txBox="1"/>
          <p:nvPr/>
        </p:nvSpPr>
        <p:spPr>
          <a:xfrm>
            <a:off x="5962389" y="1843949"/>
            <a:ext cx="5713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파일의 확장자 분류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및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변경 사항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구분해</a:t>
            </a:r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</a:t>
            </a:r>
            <a:endParaRPr lang="en-US" altLang="ko-KR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CDEADA-B8B5-418D-9297-96F939CE7746}"/>
              </a:ext>
            </a:extLst>
          </p:cNvPr>
          <p:cNvSpPr txBox="1"/>
          <p:nvPr/>
        </p:nvSpPr>
        <p:spPr>
          <a:xfrm>
            <a:off x="5529509" y="1782394"/>
            <a:ext cx="43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</a:t>
            </a:r>
            <a:endParaRPr lang="ko-KR" altLang="en-US" sz="2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6E408-8C50-468B-978F-D5FA863DCBC2}"/>
              </a:ext>
            </a:extLst>
          </p:cNvPr>
          <p:cNvSpPr txBox="1"/>
          <p:nvPr/>
        </p:nvSpPr>
        <p:spPr>
          <a:xfrm>
            <a:off x="5529509" y="3357106"/>
            <a:ext cx="43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</a:t>
            </a:r>
            <a:endParaRPr lang="ko-KR" altLang="en-US" sz="2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20CB9-D659-4492-9EF8-6A1EA846141C}"/>
              </a:ext>
            </a:extLst>
          </p:cNvPr>
          <p:cNvSpPr txBox="1"/>
          <p:nvPr/>
        </p:nvSpPr>
        <p:spPr>
          <a:xfrm>
            <a:off x="5962389" y="3429000"/>
            <a:ext cx="5713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 저장소에 작업한 내용을 업로드를 하면 </a:t>
            </a:r>
            <a:endParaRPr lang="en-US" altLang="ko-KR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다른 사람들과 공유가 가능</a:t>
            </a:r>
            <a:endParaRPr lang="en-US" altLang="ko-KR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CFCE9C-C7B4-4302-91DB-4CEE4D1E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41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1059154" y="707378"/>
            <a:ext cx="3510898" cy="954107"/>
            <a:chOff x="440175" y="1194564"/>
            <a:chExt cx="3510898" cy="954107"/>
          </a:xfrm>
        </p:grpSpPr>
        <p:sp>
          <p:nvSpPr>
            <p:cNvPr id="10" name="TextBox 9"/>
            <p:cNvSpPr txBox="1"/>
            <p:nvPr/>
          </p:nvSpPr>
          <p:spPr>
            <a:xfrm>
              <a:off x="440175" y="1194564"/>
              <a:ext cx="35108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이란 무엇인가</a:t>
              </a:r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0175" y="177933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381AB5C-8C83-46AA-B980-904B98682DA6}"/>
              </a:ext>
            </a:extLst>
          </p:cNvPr>
          <p:cNvSpPr txBox="1"/>
          <p:nvPr/>
        </p:nvSpPr>
        <p:spPr>
          <a:xfrm>
            <a:off x="1059154" y="129215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의 장점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07D3D-933E-4805-82E6-4343F923E211}"/>
              </a:ext>
            </a:extLst>
          </p:cNvPr>
          <p:cNvSpPr txBox="1"/>
          <p:nvPr/>
        </p:nvSpPr>
        <p:spPr>
          <a:xfrm>
            <a:off x="5985246" y="1843949"/>
            <a:ext cx="5713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각각의 작업한 내용을 합칠 때 편리 </a:t>
            </a:r>
            <a:endParaRPr lang="en-US" altLang="ko-KR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CDEADA-B8B5-418D-9297-96F939CE7746}"/>
              </a:ext>
            </a:extLst>
          </p:cNvPr>
          <p:cNvSpPr txBox="1"/>
          <p:nvPr/>
        </p:nvSpPr>
        <p:spPr>
          <a:xfrm>
            <a:off x="5552366" y="1782394"/>
            <a:ext cx="43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5.</a:t>
            </a:r>
            <a:endParaRPr lang="ko-KR" altLang="en-US" sz="2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CFCE9C-C7B4-4302-91DB-4CEE4D1E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6" name="Picture 4" descr="브랜치란? 【브랜치 (Branch)】 | 누구나 쉽게 이해할 수 있는 Git 입문~버전 관리를 완벽하게 이용해보자~ | Backlog">
            <a:extLst>
              <a:ext uri="{FF2B5EF4-FFF2-40B4-BE49-F238E27FC236}">
                <a16:creationId xmlns:a16="http://schemas.microsoft.com/office/drawing/2014/main" id="{3E5CC991-279B-4E81-9B0F-FB9B13294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54" y="2044004"/>
            <a:ext cx="4493212" cy="368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6097DB-51A7-4DC8-A4E3-FA3CD955E144}"/>
              </a:ext>
            </a:extLst>
          </p:cNvPr>
          <p:cNvSpPr/>
          <p:nvPr/>
        </p:nvSpPr>
        <p:spPr>
          <a:xfrm>
            <a:off x="6053488" y="2305613"/>
            <a:ext cx="3178006" cy="774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명령어</a:t>
            </a:r>
            <a:endParaRPr lang="en-US" altLang="ko-KR" sz="20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$git merge &lt;commit&gt;</a:t>
            </a:r>
            <a:endParaRPr lang="ko-KR" altLang="en-US" sz="2000" dirty="0">
              <a:solidFill>
                <a:schemeClr val="tx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32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4" descr="깃 허브(GitHub) 브랜치(branch) 병합에 대해서 | DevelopersIO">
            <a:extLst>
              <a:ext uri="{FF2B5EF4-FFF2-40B4-BE49-F238E27FC236}">
                <a16:creationId xmlns:a16="http://schemas.microsoft.com/office/drawing/2014/main" id="{6679D5FE-E230-445C-A645-D7401C16A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57" y="4634274"/>
            <a:ext cx="2941106" cy="1544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채용공고) 신입, 깃랩(GitLab) People Operations Specialist (APAC) : 네이버 블로그">
            <a:extLst>
              <a:ext uri="{FF2B5EF4-FFF2-40B4-BE49-F238E27FC236}">
                <a16:creationId xmlns:a16="http://schemas.microsoft.com/office/drawing/2014/main" id="{25FF8E6F-76F8-49D5-A31E-13B50ECDF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44" y="4439848"/>
            <a:ext cx="1761876" cy="193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D36BF6F-32E6-45B7-ACCD-711D23732F1D}"/>
              </a:ext>
            </a:extLst>
          </p:cNvPr>
          <p:cNvCxnSpPr>
            <a:cxnSpLocks/>
          </p:cNvCxnSpPr>
          <p:nvPr/>
        </p:nvCxnSpPr>
        <p:spPr>
          <a:xfrm>
            <a:off x="8835816" y="3100976"/>
            <a:ext cx="898127" cy="115131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>
            <a:extLst>
              <a:ext uri="{FF2B5EF4-FFF2-40B4-BE49-F238E27FC236}">
                <a16:creationId xmlns:a16="http://schemas.microsoft.com/office/drawing/2014/main" id="{7543E862-C362-4ED6-833F-0FD16B567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563" y="4133050"/>
            <a:ext cx="2323506" cy="232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그룹 12"/>
          <p:cNvGrpSpPr/>
          <p:nvPr/>
        </p:nvGrpSpPr>
        <p:grpSpPr>
          <a:xfrm>
            <a:off x="1059154" y="707378"/>
            <a:ext cx="3510898" cy="954107"/>
            <a:chOff x="440175" y="1194564"/>
            <a:chExt cx="3510898" cy="954107"/>
          </a:xfrm>
        </p:grpSpPr>
        <p:sp>
          <p:nvSpPr>
            <p:cNvPr id="10" name="TextBox 9"/>
            <p:cNvSpPr txBox="1"/>
            <p:nvPr/>
          </p:nvSpPr>
          <p:spPr>
            <a:xfrm>
              <a:off x="440175" y="1194564"/>
              <a:ext cx="35108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Git</a:t>
              </a:r>
              <a:r>
                <a:rPr lang="ko-KR" altLang="en-US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이란 무엇인가</a:t>
              </a:r>
              <a:r>
                <a:rPr lang="en-US" altLang="ko-KR" sz="3200" dirty="0">
                  <a:ln>
                    <a:solidFill>
                      <a:srgbClr val="4C4747">
                        <a:alpha val="20000"/>
                      </a:srgbClr>
                    </a:solidFill>
                  </a:ln>
                  <a:solidFill>
                    <a:srgbClr val="4C474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0175" y="1779339"/>
              <a:ext cx="1151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Git</a:t>
              </a:r>
              <a:r>
                <a:rPr lang="ko-KR" altLang="en-US" dirty="0">
                  <a:ln>
                    <a:solidFill>
                      <a:srgbClr val="FE9E7E">
                        <a:alpha val="20000"/>
                      </a:srgbClr>
                    </a:solidFill>
                  </a:ln>
                  <a:solidFill>
                    <a:srgbClr val="FE9E7E"/>
                  </a:solidFill>
                  <a:latin typeface="넥슨Lv2고딕 Medium" panose="00000600000000000000" pitchFamily="2" charset="-127"/>
                  <a:ea typeface="넥슨Lv2고딕 Medium" panose="00000600000000000000" pitchFamily="2" charset="-127"/>
                </a:rPr>
                <a:t>의 역사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118F8EB-8AA1-486C-86AE-3A2EF0CF49A5}"/>
              </a:ext>
            </a:extLst>
          </p:cNvPr>
          <p:cNvSpPr txBox="1"/>
          <p:nvPr/>
        </p:nvSpPr>
        <p:spPr>
          <a:xfrm>
            <a:off x="6379691" y="2931699"/>
            <a:ext cx="1868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&lt; </a:t>
            </a:r>
            <a:r>
              <a:rPr lang="ko-KR" altLang="en-US" sz="16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리누스</a:t>
            </a:r>
            <a:r>
              <a:rPr lang="ko-KR" altLang="en-US" sz="16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16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토르발스</a:t>
            </a:r>
            <a:r>
              <a:rPr lang="ko-KR" altLang="en-US" sz="16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6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&gt;</a:t>
            </a:r>
            <a:endParaRPr lang="ko-KR" altLang="en-US" sz="16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3074" name="Picture 2" descr="Tip] Ubuntu 폴더 구조 및 핵심 명령어 (1) · Dan pat pang">
            <a:extLst>
              <a:ext uri="{FF2B5EF4-FFF2-40B4-BE49-F238E27FC236}">
                <a16:creationId xmlns:a16="http://schemas.microsoft.com/office/drawing/2014/main" id="{E64D3FD0-CB38-4E5C-A553-28D3618C9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439" y="998767"/>
            <a:ext cx="2948445" cy="193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tKeeper Documentation All This category contains an alphabetical listing  of all BitKeeper commands. Overview The overview section contains Howto&amp;#39;s  for getting started quickly, definitions of BitKeeper terms, and  explanations of how or why to do common ...">
            <a:extLst>
              <a:ext uri="{FF2B5EF4-FFF2-40B4-BE49-F238E27FC236}">
                <a16:creationId xmlns:a16="http://schemas.microsoft.com/office/drawing/2014/main" id="{216F0D19-87E2-4EBF-967F-935C17297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170" y="4133050"/>
            <a:ext cx="2026076" cy="232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CD58DC-8569-4D9A-89E9-14171C0A279A}"/>
              </a:ext>
            </a:extLst>
          </p:cNvPr>
          <p:cNvSpPr txBox="1"/>
          <p:nvPr/>
        </p:nvSpPr>
        <p:spPr>
          <a:xfrm>
            <a:off x="9729981" y="3009422"/>
            <a:ext cx="140286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Trouble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40EB863-9BA5-4920-AB6D-6FD8D30447D9}"/>
              </a:ext>
            </a:extLst>
          </p:cNvPr>
          <p:cNvCxnSpPr>
            <a:cxnSpLocks/>
          </p:cNvCxnSpPr>
          <p:nvPr/>
        </p:nvCxnSpPr>
        <p:spPr>
          <a:xfrm>
            <a:off x="8835814" y="3100975"/>
            <a:ext cx="894165" cy="1151315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F5D55079-4BA5-414B-9A62-57D3897942C0}"/>
              </a:ext>
            </a:extLst>
          </p:cNvPr>
          <p:cNvSpPr/>
          <p:nvPr/>
        </p:nvSpPr>
        <p:spPr>
          <a:xfrm rot="8094786">
            <a:off x="8818141" y="3268271"/>
            <a:ext cx="929513" cy="735981"/>
          </a:xfrm>
          <a:prstGeom prst="mathMultipl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B53EA4C-3814-463F-A2D3-06D401D648B1}"/>
              </a:ext>
            </a:extLst>
          </p:cNvPr>
          <p:cNvCxnSpPr>
            <a:cxnSpLocks/>
          </p:cNvCxnSpPr>
          <p:nvPr/>
        </p:nvCxnSpPr>
        <p:spPr>
          <a:xfrm>
            <a:off x="6474472" y="3272758"/>
            <a:ext cx="0" cy="9621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A36CF1-2EBF-44BA-8506-0A9E9B9D0EF5}"/>
              </a:ext>
            </a:extLst>
          </p:cNvPr>
          <p:cNvSpPr txBox="1"/>
          <p:nvPr/>
        </p:nvSpPr>
        <p:spPr>
          <a:xfrm>
            <a:off x="6782281" y="3440041"/>
            <a:ext cx="140286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Create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CB7AD2-79A2-4C4F-8CA7-E5050F7B929A}"/>
              </a:ext>
            </a:extLst>
          </p:cNvPr>
          <p:cNvCxnSpPr>
            <a:cxnSpLocks/>
          </p:cNvCxnSpPr>
          <p:nvPr/>
        </p:nvCxnSpPr>
        <p:spPr>
          <a:xfrm flipH="1">
            <a:off x="4153777" y="5341434"/>
            <a:ext cx="8911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89F19B4-4D4D-4D2F-8421-0C20E083C904}"/>
              </a:ext>
            </a:extLst>
          </p:cNvPr>
          <p:cNvSpPr/>
          <p:nvPr/>
        </p:nvSpPr>
        <p:spPr>
          <a:xfrm>
            <a:off x="454982" y="3724508"/>
            <a:ext cx="3510898" cy="264827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2F2CFEE-1AC6-4BA4-BAEE-B533168BDC2E}"/>
              </a:ext>
            </a:extLst>
          </p:cNvPr>
          <p:cNvSpPr/>
          <p:nvPr/>
        </p:nvSpPr>
        <p:spPr>
          <a:xfrm>
            <a:off x="7830719" y="401444"/>
            <a:ext cx="1177475" cy="411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2005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2994006-D26B-4343-997B-59A9D91E7F6F}"/>
              </a:ext>
            </a:extLst>
          </p:cNvPr>
          <p:cNvSpPr/>
          <p:nvPr/>
        </p:nvSpPr>
        <p:spPr>
          <a:xfrm>
            <a:off x="5337754" y="288641"/>
            <a:ext cx="5980734" cy="61679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555BD2B-53C8-457D-BE7A-4E5994C943D1}"/>
              </a:ext>
            </a:extLst>
          </p:cNvPr>
          <p:cNvSpPr/>
          <p:nvPr/>
        </p:nvSpPr>
        <p:spPr>
          <a:xfrm>
            <a:off x="1648482" y="3842216"/>
            <a:ext cx="1177475" cy="411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2021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459241D-A69C-4056-81A7-217AE708B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25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12" grpId="0" animBg="1"/>
      <p:bldP spid="27" grpId="0" animBg="1"/>
      <p:bldP spid="24" grpId="0" animBg="1"/>
      <p:bldP spid="28" grpId="0" animBg="1"/>
      <p:bldP spid="29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깃 허브(GitHub) 브랜치(branch) 병합에 대해서 | DevelopersIO">
            <a:extLst>
              <a:ext uri="{FF2B5EF4-FFF2-40B4-BE49-F238E27FC236}">
                <a16:creationId xmlns:a16="http://schemas.microsoft.com/office/drawing/2014/main" id="{63BDE3F8-D4D6-4DAB-8708-330EADFB2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36" y="244554"/>
            <a:ext cx="4675536" cy="245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채용공고) 신입, 깃랩(GitLab) People Operations Specialist (APAC) : 네이버 블로그">
            <a:extLst>
              <a:ext uri="{FF2B5EF4-FFF2-40B4-BE49-F238E27FC236}">
                <a16:creationId xmlns:a16="http://schemas.microsoft.com/office/drawing/2014/main" id="{2A3211DF-82CF-49E5-8874-BF1565A1D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705" y="136525"/>
            <a:ext cx="2571113" cy="282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391827" y="2672828"/>
            <a:ext cx="94083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dirty="0" err="1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FFC1AD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GitHuB</a:t>
            </a:r>
            <a:r>
              <a:rPr lang="ko-KR" altLang="en-US" sz="8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란 무엇인가</a:t>
            </a:r>
            <a:r>
              <a:rPr lang="en-US" altLang="ko-KR" sz="80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80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724F5-8860-44B8-9926-11B74F6D2670}"/>
              </a:ext>
            </a:extLst>
          </p:cNvPr>
          <p:cNvSpPr txBox="1"/>
          <p:nvPr/>
        </p:nvSpPr>
        <p:spPr>
          <a:xfrm>
            <a:off x="2685719" y="4334932"/>
            <a:ext cx="87188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FF0000"/>
                </a:solidFill>
              </a:rPr>
              <a:t>버전 관리</a:t>
            </a:r>
            <a:r>
              <a:rPr lang="ko-KR" altLang="en-US" sz="4000" dirty="0"/>
              <a:t>와 협업을 위한 </a:t>
            </a:r>
            <a:endParaRPr lang="en-US" altLang="ko-KR" sz="4000" dirty="0"/>
          </a:p>
          <a:p>
            <a:r>
              <a:rPr lang="ko-KR" altLang="en-US" sz="4000" dirty="0"/>
              <a:t>코드 호스팅</a:t>
            </a:r>
            <a:r>
              <a:rPr lang="en-US" altLang="ko-KR" sz="4000" dirty="0"/>
              <a:t> </a:t>
            </a:r>
            <a:r>
              <a:rPr lang="ko-KR" altLang="en-US" sz="4000" dirty="0"/>
              <a:t>플랫폼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492772-4C28-47FA-9904-7814C150F9E1}"/>
              </a:ext>
            </a:extLst>
          </p:cNvPr>
          <p:cNvCxnSpPr>
            <a:cxnSpLocks/>
          </p:cNvCxnSpPr>
          <p:nvPr/>
        </p:nvCxnSpPr>
        <p:spPr>
          <a:xfrm>
            <a:off x="1391827" y="3996267"/>
            <a:ext cx="33555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D058414-C45D-40D9-82DB-8D551B910082}"/>
              </a:ext>
            </a:extLst>
          </p:cNvPr>
          <p:cNvSpPr/>
          <p:nvPr/>
        </p:nvSpPr>
        <p:spPr>
          <a:xfrm>
            <a:off x="1391827" y="4474387"/>
            <a:ext cx="1293892" cy="1049591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C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E53C774-4AFA-41E2-9F98-19ADD5FC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69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59154" y="707378"/>
            <a:ext cx="3882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GitHub</a:t>
            </a:r>
            <a:r>
              <a: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란 무엇인가</a:t>
            </a:r>
            <a:r>
              <a:rPr lang="en-US" altLang="ko-KR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4EFAC-666D-4A9C-A0E1-6D6D055A290A}"/>
              </a:ext>
            </a:extLst>
          </p:cNvPr>
          <p:cNvSpPr txBox="1"/>
          <p:nvPr/>
        </p:nvSpPr>
        <p:spPr>
          <a:xfrm>
            <a:off x="1059154" y="1292153"/>
            <a:ext cx="243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GitHub,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GitLab 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차이점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E78023-004D-4019-BB5A-39C61350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A785C5D-82C0-48D2-BB44-8E222CE5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89" y="1661485"/>
            <a:ext cx="5011882" cy="3291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926D06B-CFA8-4171-9DD6-CE91ABC8B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831" y="1661485"/>
            <a:ext cx="5077450" cy="32915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A32B18-7F97-4066-B898-5D854AB74F43}"/>
              </a:ext>
            </a:extLst>
          </p:cNvPr>
          <p:cNvSpPr txBox="1"/>
          <p:nvPr/>
        </p:nvSpPr>
        <p:spPr>
          <a:xfrm>
            <a:off x="2155912" y="5196515"/>
            <a:ext cx="2670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&lt; GitHub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가격 별 기능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35FB8B-7089-4AFE-BD6C-22BB2F0F23DE}"/>
              </a:ext>
            </a:extLst>
          </p:cNvPr>
          <p:cNvSpPr txBox="1"/>
          <p:nvPr/>
        </p:nvSpPr>
        <p:spPr>
          <a:xfrm>
            <a:off x="7398238" y="5196515"/>
            <a:ext cx="2670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&lt; GitLab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가격 별 기능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9885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59154" y="707378"/>
            <a:ext cx="3882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GitHub</a:t>
            </a:r>
            <a:r>
              <a:rPr lang="ko-KR" altLang="en-US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란 무엇인가</a:t>
            </a:r>
            <a:r>
              <a:rPr lang="en-US" altLang="ko-KR" sz="32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4EFAC-666D-4A9C-A0E1-6D6D055A290A}"/>
              </a:ext>
            </a:extLst>
          </p:cNvPr>
          <p:cNvSpPr txBox="1"/>
          <p:nvPr/>
        </p:nvSpPr>
        <p:spPr>
          <a:xfrm>
            <a:off x="1059154" y="1292153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GitHub,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GitLab </a:t>
            </a:r>
            <a:r>
              <a:rPr lang="ko-KR" altLang="en-US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비교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E78023-004D-4019-BB5A-39C61350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6374E4-6AF7-48A4-B3B4-BA341062E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54" y="1876929"/>
            <a:ext cx="6837940" cy="3875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3C91D4-73E8-43F5-A0E6-8BF1E4337E66}"/>
              </a:ext>
            </a:extLst>
          </p:cNvPr>
          <p:cNvSpPr txBox="1"/>
          <p:nvPr/>
        </p:nvSpPr>
        <p:spPr>
          <a:xfrm>
            <a:off x="8028214" y="1876929"/>
            <a:ext cx="3907970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모든 기능면에서는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GitLab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 우세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매년 운영문제로 인한 가격 인상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많은 기능에 의해 충돌 문제 발생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E02A2-1A9F-4982-9FFF-AFAC963E0701}"/>
              </a:ext>
            </a:extLst>
          </p:cNvPr>
          <p:cNvSpPr txBox="1"/>
          <p:nvPr/>
        </p:nvSpPr>
        <p:spPr>
          <a:xfrm>
            <a:off x="8028214" y="3721388"/>
            <a:ext cx="3907970" cy="20313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기능 선호 </a:t>
            </a:r>
            <a:r>
              <a:rPr lang="en-US" altLang="ko-KR" sz="36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= GitLab</a:t>
            </a:r>
          </a:p>
          <a:p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많은 기능이 있지만 설정할 부분이 많음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</a:p>
          <a:p>
            <a:endParaRPr lang="en-US" altLang="ko-KR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36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가격 선호 </a:t>
            </a:r>
            <a:r>
              <a:rPr lang="en-US" altLang="ko-KR" sz="36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= GitHub</a:t>
            </a:r>
          </a:p>
          <a:p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간편하고 빠르지만 보안취약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endParaRPr lang="ko-KR" altLang="en-US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ED197-6F0C-4D53-B105-19E420959DCC}"/>
              </a:ext>
            </a:extLst>
          </p:cNvPr>
          <p:cNvSpPr txBox="1"/>
          <p:nvPr/>
        </p:nvSpPr>
        <p:spPr>
          <a:xfrm>
            <a:off x="9235832" y="1184431"/>
            <a:ext cx="149273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GitLab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90399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>
            <a:off x="8947052" y="1589649"/>
            <a:ext cx="3244948" cy="0"/>
          </a:xfrm>
          <a:prstGeom prst="line">
            <a:avLst/>
          </a:prstGeom>
          <a:ln w="28575">
            <a:solidFill>
              <a:srgbClr val="4C47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14676" y="1197769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이란 무엇인가</a:t>
            </a:r>
            <a:r>
              <a:rPr lang="en-US" altLang="ko-KR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?</a:t>
            </a:r>
            <a:endParaRPr lang="ko-KR" altLang="en-US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90476" y="2274838"/>
            <a:ext cx="4996882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1500" dirty="0">
                <a:ln>
                  <a:solidFill>
                    <a:srgbClr val="FE9E7E">
                      <a:alpha val="20000"/>
                    </a:srgbClr>
                  </a:solidFill>
                </a:ln>
                <a:solidFill>
                  <a:srgbClr val="FE9E7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THANK</a:t>
            </a:r>
          </a:p>
          <a:p>
            <a:pPr algn="r"/>
            <a:r>
              <a:rPr lang="en-US" altLang="ko-KR" sz="11500" dirty="0">
                <a:ln>
                  <a:solidFill>
                    <a:srgbClr val="4C4747">
                      <a:alpha val="20000"/>
                    </a:srgbClr>
                  </a:solidFill>
                </a:ln>
                <a:solidFill>
                  <a:srgbClr val="4C474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YOU</a:t>
            </a:r>
            <a:endParaRPr lang="ko-KR" altLang="en-US" sz="11500" dirty="0">
              <a:ln>
                <a:solidFill>
                  <a:srgbClr val="4C4747">
                    <a:alpha val="20000"/>
                  </a:srgbClr>
                </a:solidFill>
              </a:ln>
              <a:solidFill>
                <a:srgbClr val="4C4747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111946"/>
              </p:ext>
            </p:extLst>
          </p:nvPr>
        </p:nvGraphicFramePr>
        <p:xfrm>
          <a:off x="779975" y="5122854"/>
          <a:ext cx="439693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762">
                  <a:extLst>
                    <a:ext uri="{9D8B030D-6E8A-4147-A177-3AD203B41FA5}">
                      <a16:colId xmlns:a16="http://schemas.microsoft.com/office/drawing/2014/main" val="56462378"/>
                    </a:ext>
                  </a:extLst>
                </a:gridCol>
                <a:gridCol w="3768173">
                  <a:extLst>
                    <a:ext uri="{9D8B030D-6E8A-4147-A177-3AD203B41FA5}">
                      <a16:colId xmlns:a16="http://schemas.microsoft.com/office/drawing/2014/main" val="3468396150"/>
                    </a:ext>
                  </a:extLst>
                </a:gridCol>
              </a:tblGrid>
              <a:tr h="2993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일시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2021</a:t>
                      </a:r>
                      <a:r>
                        <a:rPr lang="ko-KR" altLang="en-US" sz="1400" b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년</a:t>
                      </a:r>
                      <a:r>
                        <a:rPr lang="ko-KR" altLang="en-US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 </a:t>
                      </a:r>
                      <a:r>
                        <a:rPr lang="en-US" altLang="ko-KR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12</a:t>
                      </a:r>
                      <a:r>
                        <a:rPr lang="ko-KR" altLang="en-US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월 </a:t>
                      </a:r>
                      <a:r>
                        <a:rPr lang="en-US" altLang="ko-KR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17</a:t>
                      </a:r>
                      <a:r>
                        <a:rPr lang="ko-KR" altLang="en-US" sz="1400" b="0" baseline="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일</a:t>
                      </a:r>
                      <a:endParaRPr lang="ko-KR" altLang="en-US" sz="1400" b="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25652"/>
                  </a:ext>
                </a:extLst>
              </a:tr>
              <a:tr h="2993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장소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Zoom (</a:t>
                      </a:r>
                      <a:r>
                        <a:rPr lang="ko-KR" altLang="en-US" sz="140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온라인</a:t>
                      </a:r>
                      <a:r>
                        <a:rPr lang="en-US" altLang="ko-KR" sz="1400" dirty="0">
                          <a:ln>
                            <a:solidFill>
                              <a:srgbClr val="4C4747">
                                <a:alpha val="20000"/>
                              </a:srgbClr>
                            </a:solidFill>
                          </a:ln>
                          <a:solidFill>
                            <a:srgbClr val="4C4747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)</a:t>
                      </a:r>
                      <a:endParaRPr lang="ko-KR" altLang="en-US" sz="140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962243"/>
                  </a:ext>
                </a:extLst>
              </a:tr>
              <a:tr h="299373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n>
                          <a:solidFill>
                            <a:srgbClr val="4C4747">
                              <a:alpha val="20000"/>
                            </a:srgbClr>
                          </a:solidFill>
                        </a:ln>
                        <a:solidFill>
                          <a:srgbClr val="4C4747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887642"/>
                  </a:ext>
                </a:extLst>
              </a:tr>
            </a:tbl>
          </a:graphicData>
        </a:graphic>
      </p:graphicFrame>
      <p:cxnSp>
        <p:nvCxnSpPr>
          <p:cNvPr id="22" name="직선 연결선 21"/>
          <p:cNvCxnSpPr/>
          <p:nvPr/>
        </p:nvCxnSpPr>
        <p:spPr>
          <a:xfrm>
            <a:off x="0" y="5258971"/>
            <a:ext cx="583809" cy="0"/>
          </a:xfrm>
          <a:prstGeom prst="line">
            <a:avLst/>
          </a:prstGeom>
          <a:ln w="28575">
            <a:solidFill>
              <a:srgbClr val="4C47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/>
          <p:cNvGrpSpPr/>
          <p:nvPr/>
        </p:nvGrpSpPr>
        <p:grpSpPr>
          <a:xfrm>
            <a:off x="1041009" y="970671"/>
            <a:ext cx="3212513" cy="3341753"/>
            <a:chOff x="1041009" y="970671"/>
            <a:chExt cx="3212513" cy="3341753"/>
          </a:xfrm>
        </p:grpSpPr>
        <p:sp>
          <p:nvSpPr>
            <p:cNvPr id="13" name="타원 12"/>
            <p:cNvSpPr/>
            <p:nvPr/>
          </p:nvSpPr>
          <p:spPr>
            <a:xfrm>
              <a:off x="1041009" y="970671"/>
              <a:ext cx="1448973" cy="1448973"/>
            </a:xfrm>
            <a:prstGeom prst="ellipse">
              <a:avLst/>
            </a:prstGeom>
            <a:solidFill>
              <a:srgbClr val="C8E4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/>
            <p:cNvSpPr/>
            <p:nvPr/>
          </p:nvSpPr>
          <p:spPr>
            <a:xfrm>
              <a:off x="1323533" y="1382435"/>
              <a:ext cx="2929989" cy="2929989"/>
            </a:xfrm>
            <a:prstGeom prst="ellipse">
              <a:avLst/>
            </a:prstGeom>
            <a:solidFill>
              <a:srgbClr val="FE9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49A0DCC-9150-4CB0-8944-8A932E61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F3AB-4781-460A-977E-172C1641507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2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387</Words>
  <Application>Microsoft Office PowerPoint</Application>
  <PresentationFormat>와이드스크린</PresentationFormat>
  <Paragraphs>111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KoPub돋움체 Bold</vt:lpstr>
      <vt:lpstr>넥슨Lv2고딕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윤진호</dc:creator>
  <cp:lastModifiedBy>Kwak TaeKeun</cp:lastModifiedBy>
  <cp:revision>29</cp:revision>
  <dcterms:created xsi:type="dcterms:W3CDTF">2020-08-18T14:02:52Z</dcterms:created>
  <dcterms:modified xsi:type="dcterms:W3CDTF">2021-12-20T01:09:56Z</dcterms:modified>
</cp:coreProperties>
</file>